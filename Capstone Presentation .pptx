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8" r:id="rId3"/>
    <p:sldId id="257" r:id="rId4"/>
    <p:sldId id="267" r:id="rId5"/>
    <p:sldId id="259" r:id="rId6"/>
    <p:sldId id="260" r:id="rId7"/>
    <p:sldId id="263" r:id="rId8"/>
    <p:sldId id="264" r:id="rId9"/>
    <p:sldId id="268" r:id="rId10"/>
    <p:sldId id="262" r:id="rId11"/>
    <p:sldId id="261"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40"/>
  </p:normalViewPr>
  <p:slideViewPr>
    <p:cSldViewPr snapToGrid="0">
      <p:cViewPr varScale="1">
        <p:scale>
          <a:sx n="70" d="100"/>
          <a:sy n="70" d="100"/>
        </p:scale>
        <p:origin x="65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s, Tasha" userId="23a69e5e-24df-44b2-8153-914c1c98c857" providerId="ADAL" clId="{321BE783-D1AB-4332-9B10-07C640BD7BFB}"/>
    <pc:docChg chg="custSel modSld">
      <pc:chgData name="Daniels, Tasha" userId="23a69e5e-24df-44b2-8153-914c1c98c857" providerId="ADAL" clId="{321BE783-D1AB-4332-9B10-07C640BD7BFB}" dt="2026-06-01T20:22:19.637" v="151" actId="20577"/>
      <pc:docMkLst>
        <pc:docMk/>
      </pc:docMkLst>
      <pc:sldChg chg="modSp mod">
        <pc:chgData name="Daniels, Tasha" userId="23a69e5e-24df-44b2-8153-914c1c98c857" providerId="ADAL" clId="{321BE783-D1AB-4332-9B10-07C640BD7BFB}" dt="2026-06-01T20:22:19.637" v="151" actId="20577"/>
        <pc:sldMkLst>
          <pc:docMk/>
          <pc:sldMk cId="1621484109" sldId="261"/>
        </pc:sldMkLst>
        <pc:spChg chg="mod">
          <ac:chgData name="Daniels, Tasha" userId="23a69e5e-24df-44b2-8153-914c1c98c857" providerId="ADAL" clId="{321BE783-D1AB-4332-9B10-07C640BD7BFB}" dt="2026-06-01T20:22:19.637" v="151" actId="20577"/>
          <ac:spMkLst>
            <pc:docMk/>
            <pc:sldMk cId="1621484109" sldId="261"/>
            <ac:spMk id="17" creationId="{0E9EED3C-DA9D-2D9C-AE7F-8D7118D66ECA}"/>
          </ac:spMkLst>
        </pc:spChg>
      </pc:sldChg>
      <pc:sldChg chg="modSp mod">
        <pc:chgData name="Daniels, Tasha" userId="23a69e5e-24df-44b2-8153-914c1c98c857" providerId="ADAL" clId="{321BE783-D1AB-4332-9B10-07C640BD7BFB}" dt="2026-06-01T20:15:51.621" v="130" actId="20577"/>
        <pc:sldMkLst>
          <pc:docMk/>
          <pc:sldMk cId="3739784510" sldId="262"/>
        </pc:sldMkLst>
        <pc:spChg chg="mod">
          <ac:chgData name="Daniels, Tasha" userId="23a69e5e-24df-44b2-8153-914c1c98c857" providerId="ADAL" clId="{321BE783-D1AB-4332-9B10-07C640BD7BFB}" dt="2026-06-01T20:15:51.621" v="130" actId="20577"/>
          <ac:spMkLst>
            <pc:docMk/>
            <pc:sldMk cId="3739784510" sldId="262"/>
            <ac:spMk id="5" creationId="{C3AAA51F-A0B2-DA0A-F968-368D1A5B2089}"/>
          </ac:spMkLst>
        </pc:spChg>
      </pc:sldChg>
      <pc:sldChg chg="modSp mod">
        <pc:chgData name="Daniels, Tasha" userId="23a69e5e-24df-44b2-8153-914c1c98c857" providerId="ADAL" clId="{321BE783-D1AB-4332-9B10-07C640BD7BFB}" dt="2026-06-01T20:03:12.101" v="13" actId="20577"/>
        <pc:sldMkLst>
          <pc:docMk/>
          <pc:sldMk cId="2516274699" sldId="266"/>
        </pc:sldMkLst>
        <pc:spChg chg="mod">
          <ac:chgData name="Daniels, Tasha" userId="23a69e5e-24df-44b2-8153-914c1c98c857" providerId="ADAL" clId="{321BE783-D1AB-4332-9B10-07C640BD7BFB}" dt="2026-06-01T20:03:12.101" v="13" actId="20577"/>
          <ac:spMkLst>
            <pc:docMk/>
            <pc:sldMk cId="2516274699" sldId="266"/>
            <ac:spMk id="4" creationId="{7D1805BD-6734-0EC2-094C-D140DF9F4443}"/>
          </ac:spMkLst>
        </pc:spChg>
      </pc:sldChg>
      <pc:sldChg chg="modSp mod">
        <pc:chgData name="Daniels, Tasha" userId="23a69e5e-24df-44b2-8153-914c1c98c857" providerId="ADAL" clId="{321BE783-D1AB-4332-9B10-07C640BD7BFB}" dt="2026-05-29T19:55:26.635" v="4" actId="20577"/>
        <pc:sldMkLst>
          <pc:docMk/>
          <pc:sldMk cId="3539198700" sldId="267"/>
        </pc:sldMkLst>
        <pc:graphicFrameChg chg="modGraphic">
          <ac:chgData name="Daniels, Tasha" userId="23a69e5e-24df-44b2-8153-914c1c98c857" providerId="ADAL" clId="{321BE783-D1AB-4332-9B10-07C640BD7BFB}" dt="2026-05-29T19:55:26.635" v="4" actId="20577"/>
          <ac:graphicFrameMkLst>
            <pc:docMk/>
            <pc:sldMk cId="3539198700" sldId="267"/>
            <ac:graphicFrameMk id="5" creationId="{F7D330EF-B36C-0F4B-9E33-DFEE4A1B5E7E}"/>
          </ac:graphicFrameMkLst>
        </pc:graphicFrameChg>
      </pc:sldChg>
      <pc:sldChg chg="modSp mod">
        <pc:chgData name="Daniels, Tasha" userId="23a69e5e-24df-44b2-8153-914c1c98c857" providerId="ADAL" clId="{321BE783-D1AB-4332-9B10-07C640BD7BFB}" dt="2026-06-01T20:04:57.660" v="34" actId="20577"/>
        <pc:sldMkLst>
          <pc:docMk/>
          <pc:sldMk cId="1566453885" sldId="268"/>
        </pc:sldMkLst>
        <pc:spChg chg="mod">
          <ac:chgData name="Daniels, Tasha" userId="23a69e5e-24df-44b2-8153-914c1c98c857" providerId="ADAL" clId="{321BE783-D1AB-4332-9B10-07C640BD7BFB}" dt="2026-06-01T20:04:57.660" v="34" actId="20577"/>
          <ac:spMkLst>
            <pc:docMk/>
            <pc:sldMk cId="1566453885" sldId="268"/>
            <ac:spMk id="13" creationId="{4477E0AD-EE61-D016-6B08-316C04C7BC0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B33140-A1B2-4C34-BC38-93C51D8C6CE2}" type="doc">
      <dgm:prSet loTypeId="urn:microsoft.com/office/officeart/2016/7/layout/VerticalDownArrowProcess" loCatId="process" qsTypeId="urn:microsoft.com/office/officeart/2005/8/quickstyle/simple1" qsCatId="simple" csTypeId="urn:microsoft.com/office/officeart/2005/8/colors/accent1_2" csCatId="accent1"/>
      <dgm:spPr/>
      <dgm:t>
        <a:bodyPr/>
        <a:lstStyle/>
        <a:p>
          <a:endParaRPr lang="en-US"/>
        </a:p>
      </dgm:t>
    </dgm:pt>
    <dgm:pt modelId="{B3E1B4A9-706E-4BD2-BBBD-016D95194BCE}">
      <dgm:prSet/>
      <dgm:spPr/>
      <dgm:t>
        <a:bodyPr/>
        <a:lstStyle/>
        <a:p>
          <a:r>
            <a:rPr lang="en-US"/>
            <a:t>Understand</a:t>
          </a:r>
        </a:p>
      </dgm:t>
    </dgm:pt>
    <dgm:pt modelId="{E18A0E1F-EE28-4DDB-8759-F1F59C1F5472}" type="parTrans" cxnId="{554D3C15-3813-48BC-B57F-C9819E40D168}">
      <dgm:prSet/>
      <dgm:spPr/>
      <dgm:t>
        <a:bodyPr/>
        <a:lstStyle/>
        <a:p>
          <a:endParaRPr lang="en-US"/>
        </a:p>
      </dgm:t>
    </dgm:pt>
    <dgm:pt modelId="{11EEDC7D-66B3-4345-B167-E1755784CE29}" type="sibTrans" cxnId="{554D3C15-3813-48BC-B57F-C9819E40D168}">
      <dgm:prSet/>
      <dgm:spPr/>
      <dgm:t>
        <a:bodyPr/>
        <a:lstStyle/>
        <a:p>
          <a:endParaRPr lang="en-US"/>
        </a:p>
      </dgm:t>
    </dgm:pt>
    <dgm:pt modelId="{648299D1-0822-4FBA-88F7-DAE7D615F05E}">
      <dgm:prSet/>
      <dgm:spPr/>
      <dgm:t>
        <a:bodyPr/>
        <a:lstStyle/>
        <a:p>
          <a:r>
            <a:rPr lang="en-US" dirty="0"/>
            <a:t>Understand the shooting patterns in NYC</a:t>
          </a:r>
        </a:p>
      </dgm:t>
    </dgm:pt>
    <dgm:pt modelId="{71DFFFA1-51C7-47EC-A28F-2AB3A231342A}" type="parTrans" cxnId="{49756F6E-206F-4DF1-9359-09EFA69158F9}">
      <dgm:prSet/>
      <dgm:spPr/>
      <dgm:t>
        <a:bodyPr/>
        <a:lstStyle/>
        <a:p>
          <a:endParaRPr lang="en-US"/>
        </a:p>
      </dgm:t>
    </dgm:pt>
    <dgm:pt modelId="{CAE23F43-1C30-46D0-8C3E-0DE512EB9FE6}" type="sibTrans" cxnId="{49756F6E-206F-4DF1-9359-09EFA69158F9}">
      <dgm:prSet/>
      <dgm:spPr/>
      <dgm:t>
        <a:bodyPr/>
        <a:lstStyle/>
        <a:p>
          <a:endParaRPr lang="en-US"/>
        </a:p>
      </dgm:t>
    </dgm:pt>
    <dgm:pt modelId="{A4BEA768-E3AE-45D8-BD13-E2AEDADA82C4}">
      <dgm:prSet/>
      <dgm:spPr/>
      <dgm:t>
        <a:bodyPr/>
        <a:lstStyle/>
        <a:p>
          <a:r>
            <a:rPr lang="en-US"/>
            <a:t>Identify</a:t>
          </a:r>
        </a:p>
      </dgm:t>
    </dgm:pt>
    <dgm:pt modelId="{01DB088A-C0CF-4FFC-B8EF-81C8DFDE414B}" type="parTrans" cxnId="{AA3DDA25-5CA1-48DF-80DF-E37C50EB826F}">
      <dgm:prSet/>
      <dgm:spPr/>
      <dgm:t>
        <a:bodyPr/>
        <a:lstStyle/>
        <a:p>
          <a:endParaRPr lang="en-US"/>
        </a:p>
      </dgm:t>
    </dgm:pt>
    <dgm:pt modelId="{098437DC-10F7-4D5D-8684-16F130B707C1}" type="sibTrans" cxnId="{AA3DDA25-5CA1-48DF-80DF-E37C50EB826F}">
      <dgm:prSet/>
      <dgm:spPr/>
      <dgm:t>
        <a:bodyPr/>
        <a:lstStyle/>
        <a:p>
          <a:endParaRPr lang="en-US"/>
        </a:p>
      </dgm:t>
    </dgm:pt>
    <dgm:pt modelId="{7178E94D-2E96-4091-A7B8-26B87ED1910F}">
      <dgm:prSet/>
      <dgm:spPr/>
      <dgm:t>
        <a:bodyPr/>
        <a:lstStyle/>
        <a:p>
          <a:r>
            <a:rPr lang="en-US"/>
            <a:t>Identify where and when incidents occur</a:t>
          </a:r>
        </a:p>
      </dgm:t>
    </dgm:pt>
    <dgm:pt modelId="{D223F4A4-4DCE-4921-84B3-57AA50E0418F}" type="parTrans" cxnId="{D075BCF4-A414-4449-B3D6-85A0A75D0702}">
      <dgm:prSet/>
      <dgm:spPr/>
      <dgm:t>
        <a:bodyPr/>
        <a:lstStyle/>
        <a:p>
          <a:endParaRPr lang="en-US"/>
        </a:p>
      </dgm:t>
    </dgm:pt>
    <dgm:pt modelId="{56569EDC-F07A-4822-AF6D-02483A065865}" type="sibTrans" cxnId="{D075BCF4-A414-4449-B3D6-85A0A75D0702}">
      <dgm:prSet/>
      <dgm:spPr/>
      <dgm:t>
        <a:bodyPr/>
        <a:lstStyle/>
        <a:p>
          <a:endParaRPr lang="en-US"/>
        </a:p>
      </dgm:t>
    </dgm:pt>
    <dgm:pt modelId="{EAC8863F-575F-45F5-AFE8-CCFFAA246DE8}">
      <dgm:prSet/>
      <dgm:spPr/>
      <dgm:t>
        <a:bodyPr/>
        <a:lstStyle/>
        <a:p>
          <a:r>
            <a:rPr lang="en-US"/>
            <a:t>Explore</a:t>
          </a:r>
        </a:p>
      </dgm:t>
    </dgm:pt>
    <dgm:pt modelId="{C2E85E30-2CF4-4469-80C1-A88096AE9021}" type="parTrans" cxnId="{5BF1EC93-4130-4538-9EA1-0BA37AB0F703}">
      <dgm:prSet/>
      <dgm:spPr/>
      <dgm:t>
        <a:bodyPr/>
        <a:lstStyle/>
        <a:p>
          <a:endParaRPr lang="en-US"/>
        </a:p>
      </dgm:t>
    </dgm:pt>
    <dgm:pt modelId="{8F825B1B-1D74-4752-AC5D-579787F27024}" type="sibTrans" cxnId="{5BF1EC93-4130-4538-9EA1-0BA37AB0F703}">
      <dgm:prSet/>
      <dgm:spPr/>
      <dgm:t>
        <a:bodyPr/>
        <a:lstStyle/>
        <a:p>
          <a:endParaRPr lang="en-US"/>
        </a:p>
      </dgm:t>
    </dgm:pt>
    <dgm:pt modelId="{750D60B7-1E51-4F48-8B7C-5757B28D1102}">
      <dgm:prSet/>
      <dgm:spPr/>
      <dgm:t>
        <a:bodyPr/>
        <a:lstStyle/>
        <a:p>
          <a:r>
            <a:rPr lang="en-US"/>
            <a:t>Explore the demographic distribution of victims</a:t>
          </a:r>
        </a:p>
      </dgm:t>
    </dgm:pt>
    <dgm:pt modelId="{8E48066A-A32E-459E-99EC-C6D841168D24}" type="parTrans" cxnId="{430FE4E5-70F9-4A0A-BE3D-74B96F5C368F}">
      <dgm:prSet/>
      <dgm:spPr/>
      <dgm:t>
        <a:bodyPr/>
        <a:lstStyle/>
        <a:p>
          <a:endParaRPr lang="en-US"/>
        </a:p>
      </dgm:t>
    </dgm:pt>
    <dgm:pt modelId="{D51101AE-A7C2-4F0C-9B70-0A36A8CDF959}" type="sibTrans" cxnId="{430FE4E5-70F9-4A0A-BE3D-74B96F5C368F}">
      <dgm:prSet/>
      <dgm:spPr/>
      <dgm:t>
        <a:bodyPr/>
        <a:lstStyle/>
        <a:p>
          <a:endParaRPr lang="en-US"/>
        </a:p>
      </dgm:t>
    </dgm:pt>
    <dgm:pt modelId="{830E8CEF-1E7D-6640-BFF9-25FD5415B6FB}" type="pres">
      <dgm:prSet presAssocID="{1AB33140-A1B2-4C34-BC38-93C51D8C6CE2}" presName="Name0" presStyleCnt="0">
        <dgm:presLayoutVars>
          <dgm:dir/>
          <dgm:animLvl val="lvl"/>
          <dgm:resizeHandles val="exact"/>
        </dgm:presLayoutVars>
      </dgm:prSet>
      <dgm:spPr/>
    </dgm:pt>
    <dgm:pt modelId="{EDEE31D8-2E46-694B-A31A-52905DB474EB}" type="pres">
      <dgm:prSet presAssocID="{EAC8863F-575F-45F5-AFE8-CCFFAA246DE8}" presName="boxAndChildren" presStyleCnt="0"/>
      <dgm:spPr/>
    </dgm:pt>
    <dgm:pt modelId="{AB54BF0E-1F16-FE4E-AEFC-DF1AFFEE2196}" type="pres">
      <dgm:prSet presAssocID="{EAC8863F-575F-45F5-AFE8-CCFFAA246DE8}" presName="parentTextBox" presStyleLbl="alignNode1" presStyleIdx="0" presStyleCnt="3"/>
      <dgm:spPr/>
    </dgm:pt>
    <dgm:pt modelId="{D963417B-F68C-074C-9678-EC79C8B72718}" type="pres">
      <dgm:prSet presAssocID="{EAC8863F-575F-45F5-AFE8-CCFFAA246DE8}" presName="descendantBox" presStyleLbl="bgAccFollowNode1" presStyleIdx="0" presStyleCnt="3"/>
      <dgm:spPr/>
    </dgm:pt>
    <dgm:pt modelId="{57669E8C-963B-7843-9618-EE39448A40B0}" type="pres">
      <dgm:prSet presAssocID="{098437DC-10F7-4D5D-8684-16F130B707C1}" presName="sp" presStyleCnt="0"/>
      <dgm:spPr/>
    </dgm:pt>
    <dgm:pt modelId="{CC1477D3-BED4-5840-8C89-1F432972A9BF}" type="pres">
      <dgm:prSet presAssocID="{A4BEA768-E3AE-45D8-BD13-E2AEDADA82C4}" presName="arrowAndChildren" presStyleCnt="0"/>
      <dgm:spPr/>
    </dgm:pt>
    <dgm:pt modelId="{8C198F26-28F1-7E41-9A54-243A878A3D06}" type="pres">
      <dgm:prSet presAssocID="{A4BEA768-E3AE-45D8-BD13-E2AEDADA82C4}" presName="parentTextArrow" presStyleLbl="node1" presStyleIdx="0" presStyleCnt="0"/>
      <dgm:spPr/>
    </dgm:pt>
    <dgm:pt modelId="{B146D42F-CE62-664C-A8A8-61031CC226B8}" type="pres">
      <dgm:prSet presAssocID="{A4BEA768-E3AE-45D8-BD13-E2AEDADA82C4}" presName="arrow" presStyleLbl="alignNode1" presStyleIdx="1" presStyleCnt="3"/>
      <dgm:spPr/>
    </dgm:pt>
    <dgm:pt modelId="{B802C264-7D8C-5D4F-B206-B64F84F50AF7}" type="pres">
      <dgm:prSet presAssocID="{A4BEA768-E3AE-45D8-BD13-E2AEDADA82C4}" presName="descendantArrow" presStyleLbl="bgAccFollowNode1" presStyleIdx="1" presStyleCnt="3"/>
      <dgm:spPr/>
    </dgm:pt>
    <dgm:pt modelId="{784653A4-D5ED-E64D-B355-44B010182F5A}" type="pres">
      <dgm:prSet presAssocID="{11EEDC7D-66B3-4345-B167-E1755784CE29}" presName="sp" presStyleCnt="0"/>
      <dgm:spPr/>
    </dgm:pt>
    <dgm:pt modelId="{751E7BCF-184C-9345-BB8B-295FCF9B9202}" type="pres">
      <dgm:prSet presAssocID="{B3E1B4A9-706E-4BD2-BBBD-016D95194BCE}" presName="arrowAndChildren" presStyleCnt="0"/>
      <dgm:spPr/>
    </dgm:pt>
    <dgm:pt modelId="{07D97126-F881-1642-B1E8-57E66DBCD6AE}" type="pres">
      <dgm:prSet presAssocID="{B3E1B4A9-706E-4BD2-BBBD-016D95194BCE}" presName="parentTextArrow" presStyleLbl="node1" presStyleIdx="0" presStyleCnt="0"/>
      <dgm:spPr/>
    </dgm:pt>
    <dgm:pt modelId="{F7677AE1-0EB0-C24C-9FE1-44A7D76CACE2}" type="pres">
      <dgm:prSet presAssocID="{B3E1B4A9-706E-4BD2-BBBD-016D95194BCE}" presName="arrow" presStyleLbl="alignNode1" presStyleIdx="2" presStyleCnt="3"/>
      <dgm:spPr/>
    </dgm:pt>
    <dgm:pt modelId="{43733390-8E37-3145-ABFB-54E36D3D9E78}" type="pres">
      <dgm:prSet presAssocID="{B3E1B4A9-706E-4BD2-BBBD-016D95194BCE}" presName="descendantArrow" presStyleLbl="bgAccFollowNode1" presStyleIdx="2" presStyleCnt="3"/>
      <dgm:spPr/>
    </dgm:pt>
  </dgm:ptLst>
  <dgm:cxnLst>
    <dgm:cxn modelId="{A1CD0714-43F2-7245-A137-E8724EEFD9BA}" type="presOf" srcId="{750D60B7-1E51-4F48-8B7C-5757B28D1102}" destId="{D963417B-F68C-074C-9678-EC79C8B72718}" srcOrd="0" destOrd="0" presId="urn:microsoft.com/office/officeart/2016/7/layout/VerticalDownArrowProcess"/>
    <dgm:cxn modelId="{554D3C15-3813-48BC-B57F-C9819E40D168}" srcId="{1AB33140-A1B2-4C34-BC38-93C51D8C6CE2}" destId="{B3E1B4A9-706E-4BD2-BBBD-016D95194BCE}" srcOrd="0" destOrd="0" parTransId="{E18A0E1F-EE28-4DDB-8759-F1F59C1F5472}" sibTransId="{11EEDC7D-66B3-4345-B167-E1755784CE29}"/>
    <dgm:cxn modelId="{AA3DDA25-5CA1-48DF-80DF-E37C50EB826F}" srcId="{1AB33140-A1B2-4C34-BC38-93C51D8C6CE2}" destId="{A4BEA768-E3AE-45D8-BD13-E2AEDADA82C4}" srcOrd="1" destOrd="0" parTransId="{01DB088A-C0CF-4FFC-B8EF-81C8DFDE414B}" sibTransId="{098437DC-10F7-4D5D-8684-16F130B707C1}"/>
    <dgm:cxn modelId="{77FAF840-AD60-AA41-90BE-5937842E1E0D}" type="presOf" srcId="{EAC8863F-575F-45F5-AFE8-CCFFAA246DE8}" destId="{AB54BF0E-1F16-FE4E-AEFC-DF1AFFEE2196}" srcOrd="0" destOrd="0" presId="urn:microsoft.com/office/officeart/2016/7/layout/VerticalDownArrowProcess"/>
    <dgm:cxn modelId="{F158BF5B-C976-D242-953F-16CF1A73C6DF}" type="presOf" srcId="{7178E94D-2E96-4091-A7B8-26B87ED1910F}" destId="{B802C264-7D8C-5D4F-B206-B64F84F50AF7}" srcOrd="0" destOrd="0" presId="urn:microsoft.com/office/officeart/2016/7/layout/VerticalDownArrowProcess"/>
    <dgm:cxn modelId="{5A8E6A43-E54E-8141-AD46-6761F66B09CC}" type="presOf" srcId="{B3E1B4A9-706E-4BD2-BBBD-016D95194BCE}" destId="{07D97126-F881-1642-B1E8-57E66DBCD6AE}" srcOrd="0" destOrd="0" presId="urn:microsoft.com/office/officeart/2016/7/layout/VerticalDownArrowProcess"/>
    <dgm:cxn modelId="{49756F6E-206F-4DF1-9359-09EFA69158F9}" srcId="{B3E1B4A9-706E-4BD2-BBBD-016D95194BCE}" destId="{648299D1-0822-4FBA-88F7-DAE7D615F05E}" srcOrd="0" destOrd="0" parTransId="{71DFFFA1-51C7-47EC-A28F-2AB3A231342A}" sibTransId="{CAE23F43-1C30-46D0-8C3E-0DE512EB9FE6}"/>
    <dgm:cxn modelId="{E5AF6C51-7339-6C4A-B3CA-783684DDC0D7}" type="presOf" srcId="{B3E1B4A9-706E-4BD2-BBBD-016D95194BCE}" destId="{F7677AE1-0EB0-C24C-9FE1-44A7D76CACE2}" srcOrd="1" destOrd="0" presId="urn:microsoft.com/office/officeart/2016/7/layout/VerticalDownArrowProcess"/>
    <dgm:cxn modelId="{1F4D4452-DDCB-A340-8162-485DDF7FD5BF}" type="presOf" srcId="{A4BEA768-E3AE-45D8-BD13-E2AEDADA82C4}" destId="{8C198F26-28F1-7E41-9A54-243A878A3D06}" srcOrd="0" destOrd="0" presId="urn:microsoft.com/office/officeart/2016/7/layout/VerticalDownArrowProcess"/>
    <dgm:cxn modelId="{5BF1EC93-4130-4538-9EA1-0BA37AB0F703}" srcId="{1AB33140-A1B2-4C34-BC38-93C51D8C6CE2}" destId="{EAC8863F-575F-45F5-AFE8-CCFFAA246DE8}" srcOrd="2" destOrd="0" parTransId="{C2E85E30-2CF4-4469-80C1-A88096AE9021}" sibTransId="{8F825B1B-1D74-4752-AC5D-579787F27024}"/>
    <dgm:cxn modelId="{430FE4E5-70F9-4A0A-BE3D-74B96F5C368F}" srcId="{EAC8863F-575F-45F5-AFE8-CCFFAA246DE8}" destId="{750D60B7-1E51-4F48-8B7C-5757B28D1102}" srcOrd="0" destOrd="0" parTransId="{8E48066A-A32E-459E-99EC-C6D841168D24}" sibTransId="{D51101AE-A7C2-4F0C-9B70-0A36A8CDF959}"/>
    <dgm:cxn modelId="{498CB1E8-BFC5-6341-AF67-C22BE6873FAD}" type="presOf" srcId="{648299D1-0822-4FBA-88F7-DAE7D615F05E}" destId="{43733390-8E37-3145-ABFB-54E36D3D9E78}" srcOrd="0" destOrd="0" presId="urn:microsoft.com/office/officeart/2016/7/layout/VerticalDownArrowProcess"/>
    <dgm:cxn modelId="{D075BCF4-A414-4449-B3D6-85A0A75D0702}" srcId="{A4BEA768-E3AE-45D8-BD13-E2AEDADA82C4}" destId="{7178E94D-2E96-4091-A7B8-26B87ED1910F}" srcOrd="0" destOrd="0" parTransId="{D223F4A4-4DCE-4921-84B3-57AA50E0418F}" sibTransId="{56569EDC-F07A-4822-AF6D-02483A065865}"/>
    <dgm:cxn modelId="{2BFE27F6-DD4E-444F-B08C-438AD2D84378}" type="presOf" srcId="{A4BEA768-E3AE-45D8-BD13-E2AEDADA82C4}" destId="{B146D42F-CE62-664C-A8A8-61031CC226B8}" srcOrd="1" destOrd="0" presId="urn:microsoft.com/office/officeart/2016/7/layout/VerticalDownArrowProcess"/>
    <dgm:cxn modelId="{2A4647F6-220B-3249-B45C-CE5364E59AE7}" type="presOf" srcId="{1AB33140-A1B2-4C34-BC38-93C51D8C6CE2}" destId="{830E8CEF-1E7D-6640-BFF9-25FD5415B6FB}" srcOrd="0" destOrd="0" presId="urn:microsoft.com/office/officeart/2016/7/layout/VerticalDownArrowProcess"/>
    <dgm:cxn modelId="{3BAD0A40-870E-C548-8BA5-8DEA974AE44A}" type="presParOf" srcId="{830E8CEF-1E7D-6640-BFF9-25FD5415B6FB}" destId="{EDEE31D8-2E46-694B-A31A-52905DB474EB}" srcOrd="0" destOrd="0" presId="urn:microsoft.com/office/officeart/2016/7/layout/VerticalDownArrowProcess"/>
    <dgm:cxn modelId="{AD3398D3-FE7D-B040-9941-EB217DFE4E96}" type="presParOf" srcId="{EDEE31D8-2E46-694B-A31A-52905DB474EB}" destId="{AB54BF0E-1F16-FE4E-AEFC-DF1AFFEE2196}" srcOrd="0" destOrd="0" presId="urn:microsoft.com/office/officeart/2016/7/layout/VerticalDownArrowProcess"/>
    <dgm:cxn modelId="{54C9A0B4-F977-DD41-88C4-CD46F066389C}" type="presParOf" srcId="{EDEE31D8-2E46-694B-A31A-52905DB474EB}" destId="{D963417B-F68C-074C-9678-EC79C8B72718}" srcOrd="1" destOrd="0" presId="urn:microsoft.com/office/officeart/2016/7/layout/VerticalDownArrowProcess"/>
    <dgm:cxn modelId="{DE1E26E6-98E9-AA42-9F78-0A10BA7E3973}" type="presParOf" srcId="{830E8CEF-1E7D-6640-BFF9-25FD5415B6FB}" destId="{57669E8C-963B-7843-9618-EE39448A40B0}" srcOrd="1" destOrd="0" presId="urn:microsoft.com/office/officeart/2016/7/layout/VerticalDownArrowProcess"/>
    <dgm:cxn modelId="{73256494-6ED8-2A46-8234-EA2706876AE0}" type="presParOf" srcId="{830E8CEF-1E7D-6640-BFF9-25FD5415B6FB}" destId="{CC1477D3-BED4-5840-8C89-1F432972A9BF}" srcOrd="2" destOrd="0" presId="urn:microsoft.com/office/officeart/2016/7/layout/VerticalDownArrowProcess"/>
    <dgm:cxn modelId="{70FAF9A1-4B71-434B-BC56-749E88590EC8}" type="presParOf" srcId="{CC1477D3-BED4-5840-8C89-1F432972A9BF}" destId="{8C198F26-28F1-7E41-9A54-243A878A3D06}" srcOrd="0" destOrd="0" presId="urn:microsoft.com/office/officeart/2016/7/layout/VerticalDownArrowProcess"/>
    <dgm:cxn modelId="{4BD7BC6A-F97E-604A-B191-2B4AF19BEEB4}" type="presParOf" srcId="{CC1477D3-BED4-5840-8C89-1F432972A9BF}" destId="{B146D42F-CE62-664C-A8A8-61031CC226B8}" srcOrd="1" destOrd="0" presId="urn:microsoft.com/office/officeart/2016/7/layout/VerticalDownArrowProcess"/>
    <dgm:cxn modelId="{8792D067-F354-404C-8656-A6241546844F}" type="presParOf" srcId="{CC1477D3-BED4-5840-8C89-1F432972A9BF}" destId="{B802C264-7D8C-5D4F-B206-B64F84F50AF7}" srcOrd="2" destOrd="0" presId="urn:microsoft.com/office/officeart/2016/7/layout/VerticalDownArrowProcess"/>
    <dgm:cxn modelId="{7CF3B3E3-7D7D-0D4A-83C3-75BBCBD0E13D}" type="presParOf" srcId="{830E8CEF-1E7D-6640-BFF9-25FD5415B6FB}" destId="{784653A4-D5ED-E64D-B355-44B010182F5A}" srcOrd="3" destOrd="0" presId="urn:microsoft.com/office/officeart/2016/7/layout/VerticalDownArrowProcess"/>
    <dgm:cxn modelId="{2E995761-2EC5-294B-8AD5-3992B61279A1}" type="presParOf" srcId="{830E8CEF-1E7D-6640-BFF9-25FD5415B6FB}" destId="{751E7BCF-184C-9345-BB8B-295FCF9B9202}" srcOrd="4" destOrd="0" presId="urn:microsoft.com/office/officeart/2016/7/layout/VerticalDownArrowProcess"/>
    <dgm:cxn modelId="{57ECEEB4-0AEC-C94D-BF0D-A63A8853B673}" type="presParOf" srcId="{751E7BCF-184C-9345-BB8B-295FCF9B9202}" destId="{07D97126-F881-1642-B1E8-57E66DBCD6AE}" srcOrd="0" destOrd="0" presId="urn:microsoft.com/office/officeart/2016/7/layout/VerticalDownArrowProcess"/>
    <dgm:cxn modelId="{D0F4472A-EE72-6340-A85C-A6244AC770E2}" type="presParOf" srcId="{751E7BCF-184C-9345-BB8B-295FCF9B9202}" destId="{F7677AE1-0EB0-C24C-9FE1-44A7D76CACE2}" srcOrd="1" destOrd="0" presId="urn:microsoft.com/office/officeart/2016/7/layout/VerticalDownArrowProcess"/>
    <dgm:cxn modelId="{6B3A1862-864D-B348-9C4D-CE08EE237EF6}" type="presParOf" srcId="{751E7BCF-184C-9345-BB8B-295FCF9B9202}" destId="{43733390-8E37-3145-ABFB-54E36D3D9E78}"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6EF64D-9DB0-48CF-9A22-70C945CD7652}"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A3D3A5E4-A10C-41E9-B68A-FA873C4C2AD9}">
      <dgm:prSet/>
      <dgm:spPr/>
      <dgm:t>
        <a:bodyPr/>
        <a:lstStyle/>
        <a:p>
          <a:r>
            <a:rPr lang="en-US"/>
            <a:t>Which boroughs have the highest shooting rates?</a:t>
          </a:r>
        </a:p>
      </dgm:t>
    </dgm:pt>
    <dgm:pt modelId="{A9345C53-3C1A-463A-B5DA-625B7413898B}" type="parTrans" cxnId="{D99CB0E7-1AD7-4EA3-A8C3-5A7AA8D51FCD}">
      <dgm:prSet/>
      <dgm:spPr/>
      <dgm:t>
        <a:bodyPr/>
        <a:lstStyle/>
        <a:p>
          <a:endParaRPr lang="en-US"/>
        </a:p>
      </dgm:t>
    </dgm:pt>
    <dgm:pt modelId="{F4D6B373-FC0D-474A-BD0D-E3A7DA758CAE}" type="sibTrans" cxnId="{D99CB0E7-1AD7-4EA3-A8C3-5A7AA8D51FCD}">
      <dgm:prSet/>
      <dgm:spPr/>
      <dgm:t>
        <a:bodyPr/>
        <a:lstStyle/>
        <a:p>
          <a:endParaRPr lang="en-US"/>
        </a:p>
      </dgm:t>
    </dgm:pt>
    <dgm:pt modelId="{88DAA5BE-FBE3-4835-B5E6-DD76998356A7}">
      <dgm:prSet/>
      <dgm:spPr/>
      <dgm:t>
        <a:bodyPr/>
        <a:lstStyle/>
        <a:p>
          <a:r>
            <a:rPr lang="en-US" dirty="0"/>
            <a:t>What age/sex/race groups are most affected?</a:t>
          </a:r>
        </a:p>
      </dgm:t>
    </dgm:pt>
    <dgm:pt modelId="{51A9845D-DEAB-453E-B8B1-F27FFD77A731}" type="parTrans" cxnId="{B46DBAA7-95C7-4BE6-9628-1607A049F541}">
      <dgm:prSet/>
      <dgm:spPr/>
      <dgm:t>
        <a:bodyPr/>
        <a:lstStyle/>
        <a:p>
          <a:endParaRPr lang="en-US"/>
        </a:p>
      </dgm:t>
    </dgm:pt>
    <dgm:pt modelId="{C39B1FD4-0B8F-4146-A016-06362BC5E3E2}" type="sibTrans" cxnId="{B46DBAA7-95C7-4BE6-9628-1607A049F541}">
      <dgm:prSet/>
      <dgm:spPr/>
      <dgm:t>
        <a:bodyPr/>
        <a:lstStyle/>
        <a:p>
          <a:endParaRPr lang="en-US"/>
        </a:p>
      </dgm:t>
    </dgm:pt>
    <dgm:pt modelId="{3069E97C-5F1F-47C2-903D-AB429DFE2654}">
      <dgm:prSet/>
      <dgm:spPr/>
      <dgm:t>
        <a:bodyPr/>
        <a:lstStyle/>
        <a:p>
          <a:r>
            <a:rPr lang="en-US"/>
            <a:t>When do shootings most often occur?</a:t>
          </a:r>
        </a:p>
      </dgm:t>
    </dgm:pt>
    <dgm:pt modelId="{AB0E79EE-6F20-4451-BB73-FC04263C2F68}" type="parTrans" cxnId="{C70E719A-7490-46DE-9A19-E1F9B78F92D5}">
      <dgm:prSet/>
      <dgm:spPr/>
      <dgm:t>
        <a:bodyPr/>
        <a:lstStyle/>
        <a:p>
          <a:endParaRPr lang="en-US"/>
        </a:p>
      </dgm:t>
    </dgm:pt>
    <dgm:pt modelId="{FE86FA4B-FF66-47EE-89BE-E726030A9651}" type="sibTrans" cxnId="{C70E719A-7490-46DE-9A19-E1F9B78F92D5}">
      <dgm:prSet/>
      <dgm:spPr/>
      <dgm:t>
        <a:bodyPr/>
        <a:lstStyle/>
        <a:p>
          <a:endParaRPr lang="en-US"/>
        </a:p>
      </dgm:t>
    </dgm:pt>
    <dgm:pt modelId="{6A1052C5-5050-4192-83FD-A5D51474D96C}">
      <dgm:prSet/>
      <dgm:spPr/>
      <dgm:t>
        <a:bodyPr/>
        <a:lstStyle/>
        <a:p>
          <a:r>
            <a:rPr lang="en-US"/>
            <a:t>What areas can use additional resources?</a:t>
          </a:r>
        </a:p>
      </dgm:t>
    </dgm:pt>
    <dgm:pt modelId="{6DD4992C-C1A9-4B36-B02F-CFFF04DB1CF6}" type="parTrans" cxnId="{84D96400-F8CC-4023-915C-380C19554A63}">
      <dgm:prSet/>
      <dgm:spPr/>
      <dgm:t>
        <a:bodyPr/>
        <a:lstStyle/>
        <a:p>
          <a:endParaRPr lang="en-US"/>
        </a:p>
      </dgm:t>
    </dgm:pt>
    <dgm:pt modelId="{3CB233D6-1F16-4FDA-BB05-2650D18DEFE3}" type="sibTrans" cxnId="{84D96400-F8CC-4023-915C-380C19554A63}">
      <dgm:prSet/>
      <dgm:spPr/>
      <dgm:t>
        <a:bodyPr/>
        <a:lstStyle/>
        <a:p>
          <a:endParaRPr lang="en-US"/>
        </a:p>
      </dgm:t>
    </dgm:pt>
    <dgm:pt modelId="{5D92F1A2-B998-7A4E-A130-2703F98DB039}" type="pres">
      <dgm:prSet presAssocID="{716EF64D-9DB0-48CF-9A22-70C945CD7652}" presName="matrix" presStyleCnt="0">
        <dgm:presLayoutVars>
          <dgm:chMax val="1"/>
          <dgm:dir/>
          <dgm:resizeHandles val="exact"/>
        </dgm:presLayoutVars>
      </dgm:prSet>
      <dgm:spPr/>
    </dgm:pt>
    <dgm:pt modelId="{30B4E4E5-DC0D-2341-838F-A408AA605466}" type="pres">
      <dgm:prSet presAssocID="{716EF64D-9DB0-48CF-9A22-70C945CD7652}" presName="diamond" presStyleLbl="bgShp" presStyleIdx="0" presStyleCnt="1"/>
      <dgm:spPr/>
    </dgm:pt>
    <dgm:pt modelId="{1C62310B-2CEF-EE48-A86C-BA50010960B3}" type="pres">
      <dgm:prSet presAssocID="{716EF64D-9DB0-48CF-9A22-70C945CD7652}" presName="quad1" presStyleLbl="node1" presStyleIdx="0" presStyleCnt="4">
        <dgm:presLayoutVars>
          <dgm:chMax val="0"/>
          <dgm:chPref val="0"/>
          <dgm:bulletEnabled val="1"/>
        </dgm:presLayoutVars>
      </dgm:prSet>
      <dgm:spPr/>
    </dgm:pt>
    <dgm:pt modelId="{67500444-7AED-124B-A1E9-5534381A610A}" type="pres">
      <dgm:prSet presAssocID="{716EF64D-9DB0-48CF-9A22-70C945CD7652}" presName="quad2" presStyleLbl="node1" presStyleIdx="1" presStyleCnt="4">
        <dgm:presLayoutVars>
          <dgm:chMax val="0"/>
          <dgm:chPref val="0"/>
          <dgm:bulletEnabled val="1"/>
        </dgm:presLayoutVars>
      </dgm:prSet>
      <dgm:spPr/>
    </dgm:pt>
    <dgm:pt modelId="{7EBA7F83-1816-CC4D-A696-C29C5EA7F7F6}" type="pres">
      <dgm:prSet presAssocID="{716EF64D-9DB0-48CF-9A22-70C945CD7652}" presName="quad3" presStyleLbl="node1" presStyleIdx="2" presStyleCnt="4">
        <dgm:presLayoutVars>
          <dgm:chMax val="0"/>
          <dgm:chPref val="0"/>
          <dgm:bulletEnabled val="1"/>
        </dgm:presLayoutVars>
      </dgm:prSet>
      <dgm:spPr/>
    </dgm:pt>
    <dgm:pt modelId="{9A648631-3CF3-334C-BCC8-6CCBDDD63CA2}" type="pres">
      <dgm:prSet presAssocID="{716EF64D-9DB0-48CF-9A22-70C945CD7652}" presName="quad4" presStyleLbl="node1" presStyleIdx="3" presStyleCnt="4">
        <dgm:presLayoutVars>
          <dgm:chMax val="0"/>
          <dgm:chPref val="0"/>
          <dgm:bulletEnabled val="1"/>
        </dgm:presLayoutVars>
      </dgm:prSet>
      <dgm:spPr/>
    </dgm:pt>
  </dgm:ptLst>
  <dgm:cxnLst>
    <dgm:cxn modelId="{84D96400-F8CC-4023-915C-380C19554A63}" srcId="{716EF64D-9DB0-48CF-9A22-70C945CD7652}" destId="{6A1052C5-5050-4192-83FD-A5D51474D96C}" srcOrd="3" destOrd="0" parTransId="{6DD4992C-C1A9-4B36-B02F-CFFF04DB1CF6}" sibTransId="{3CB233D6-1F16-4FDA-BB05-2650D18DEFE3}"/>
    <dgm:cxn modelId="{32111B09-B030-2747-8EB0-37384EC13B63}" type="presOf" srcId="{88DAA5BE-FBE3-4835-B5E6-DD76998356A7}" destId="{67500444-7AED-124B-A1E9-5534381A610A}" srcOrd="0" destOrd="0" presId="urn:microsoft.com/office/officeart/2005/8/layout/matrix3"/>
    <dgm:cxn modelId="{A2DAE383-8798-6B4D-B975-1E73BEC68463}" type="presOf" srcId="{6A1052C5-5050-4192-83FD-A5D51474D96C}" destId="{9A648631-3CF3-334C-BCC8-6CCBDDD63CA2}" srcOrd="0" destOrd="0" presId="urn:microsoft.com/office/officeart/2005/8/layout/matrix3"/>
    <dgm:cxn modelId="{92591591-59B4-6344-BC50-FC5843D523AE}" type="presOf" srcId="{A3D3A5E4-A10C-41E9-B68A-FA873C4C2AD9}" destId="{1C62310B-2CEF-EE48-A86C-BA50010960B3}" srcOrd="0" destOrd="0" presId="urn:microsoft.com/office/officeart/2005/8/layout/matrix3"/>
    <dgm:cxn modelId="{54C9029A-A99C-4E45-B986-1A108247DC27}" type="presOf" srcId="{716EF64D-9DB0-48CF-9A22-70C945CD7652}" destId="{5D92F1A2-B998-7A4E-A130-2703F98DB039}" srcOrd="0" destOrd="0" presId="urn:microsoft.com/office/officeart/2005/8/layout/matrix3"/>
    <dgm:cxn modelId="{C70E719A-7490-46DE-9A19-E1F9B78F92D5}" srcId="{716EF64D-9DB0-48CF-9A22-70C945CD7652}" destId="{3069E97C-5F1F-47C2-903D-AB429DFE2654}" srcOrd="2" destOrd="0" parTransId="{AB0E79EE-6F20-4451-BB73-FC04263C2F68}" sibTransId="{FE86FA4B-FF66-47EE-89BE-E726030A9651}"/>
    <dgm:cxn modelId="{B46DBAA7-95C7-4BE6-9628-1607A049F541}" srcId="{716EF64D-9DB0-48CF-9A22-70C945CD7652}" destId="{88DAA5BE-FBE3-4835-B5E6-DD76998356A7}" srcOrd="1" destOrd="0" parTransId="{51A9845D-DEAB-453E-B8B1-F27FFD77A731}" sibTransId="{C39B1FD4-0B8F-4146-A016-06362BC5E3E2}"/>
    <dgm:cxn modelId="{5727D0C0-D4F6-5D42-B370-8A910944FBFC}" type="presOf" srcId="{3069E97C-5F1F-47C2-903D-AB429DFE2654}" destId="{7EBA7F83-1816-CC4D-A696-C29C5EA7F7F6}" srcOrd="0" destOrd="0" presId="urn:microsoft.com/office/officeart/2005/8/layout/matrix3"/>
    <dgm:cxn modelId="{D99CB0E7-1AD7-4EA3-A8C3-5A7AA8D51FCD}" srcId="{716EF64D-9DB0-48CF-9A22-70C945CD7652}" destId="{A3D3A5E4-A10C-41E9-B68A-FA873C4C2AD9}" srcOrd="0" destOrd="0" parTransId="{A9345C53-3C1A-463A-B5DA-625B7413898B}" sibTransId="{F4D6B373-FC0D-474A-BD0D-E3A7DA758CAE}"/>
    <dgm:cxn modelId="{46D78CBC-D59D-8E4C-9913-B28767ACF2EF}" type="presParOf" srcId="{5D92F1A2-B998-7A4E-A130-2703F98DB039}" destId="{30B4E4E5-DC0D-2341-838F-A408AA605466}" srcOrd="0" destOrd="0" presId="urn:microsoft.com/office/officeart/2005/8/layout/matrix3"/>
    <dgm:cxn modelId="{8CAD0259-929B-9444-A85D-BCEEA1283AE5}" type="presParOf" srcId="{5D92F1A2-B998-7A4E-A130-2703F98DB039}" destId="{1C62310B-2CEF-EE48-A86C-BA50010960B3}" srcOrd="1" destOrd="0" presId="urn:microsoft.com/office/officeart/2005/8/layout/matrix3"/>
    <dgm:cxn modelId="{E0827551-425C-644E-B03D-549FB0409BCD}" type="presParOf" srcId="{5D92F1A2-B998-7A4E-A130-2703F98DB039}" destId="{67500444-7AED-124B-A1E9-5534381A610A}" srcOrd="2" destOrd="0" presId="urn:microsoft.com/office/officeart/2005/8/layout/matrix3"/>
    <dgm:cxn modelId="{77400D04-5E3D-8347-9243-A94F61F85646}" type="presParOf" srcId="{5D92F1A2-B998-7A4E-A130-2703F98DB039}" destId="{7EBA7F83-1816-CC4D-A696-C29C5EA7F7F6}" srcOrd="3" destOrd="0" presId="urn:microsoft.com/office/officeart/2005/8/layout/matrix3"/>
    <dgm:cxn modelId="{B3892021-083B-3C44-971F-7BF11AED88E3}" type="presParOf" srcId="{5D92F1A2-B998-7A4E-A130-2703F98DB039}" destId="{9A648631-3CF3-334C-BCC8-6CCBDDD63CA2}"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C06DAF-9469-433A-BBC7-FDFDA526968E}" type="doc">
      <dgm:prSet loTypeId="urn:microsoft.com/office/officeart/2005/8/layout/arrow5" loCatId="relationship" qsTypeId="urn:microsoft.com/office/officeart/2005/8/quickstyle/simple1" qsCatId="simple" csTypeId="urn:microsoft.com/office/officeart/2005/8/colors/accent1_2" csCatId="accent1"/>
      <dgm:spPr/>
      <dgm:t>
        <a:bodyPr/>
        <a:lstStyle/>
        <a:p>
          <a:endParaRPr lang="en-US"/>
        </a:p>
      </dgm:t>
    </dgm:pt>
    <dgm:pt modelId="{AA05B4DE-C338-4B2E-9B03-B7BD81BEC539}">
      <dgm:prSet/>
      <dgm:spPr/>
      <dgm:t>
        <a:bodyPr/>
        <a:lstStyle/>
        <a:p>
          <a:r>
            <a:rPr lang="en-US"/>
            <a:t>Removed missing values</a:t>
          </a:r>
        </a:p>
      </dgm:t>
    </dgm:pt>
    <dgm:pt modelId="{F0610464-3708-4A7B-B26C-B38F6BFC4DAE}" type="parTrans" cxnId="{2C0588A0-9919-424F-9AFA-7DFCD7AC3E4D}">
      <dgm:prSet/>
      <dgm:spPr/>
      <dgm:t>
        <a:bodyPr/>
        <a:lstStyle/>
        <a:p>
          <a:endParaRPr lang="en-US"/>
        </a:p>
      </dgm:t>
    </dgm:pt>
    <dgm:pt modelId="{CCB4DAB6-FCCF-472F-B662-E48CE3258C09}" type="sibTrans" cxnId="{2C0588A0-9919-424F-9AFA-7DFCD7AC3E4D}">
      <dgm:prSet/>
      <dgm:spPr/>
      <dgm:t>
        <a:bodyPr/>
        <a:lstStyle/>
        <a:p>
          <a:endParaRPr lang="en-US"/>
        </a:p>
      </dgm:t>
    </dgm:pt>
    <dgm:pt modelId="{FD7553D7-CDA8-4766-BB58-3149C5284D60}">
      <dgm:prSet/>
      <dgm:spPr/>
      <dgm:t>
        <a:bodyPr/>
        <a:lstStyle/>
        <a:p>
          <a:r>
            <a:rPr lang="en-US"/>
            <a:t>Standardized categories</a:t>
          </a:r>
        </a:p>
      </dgm:t>
    </dgm:pt>
    <dgm:pt modelId="{690680CF-E923-47AA-834F-DE22045A9A4D}" type="parTrans" cxnId="{9A068CAB-865F-44C4-99F4-3B88500B3627}">
      <dgm:prSet/>
      <dgm:spPr/>
      <dgm:t>
        <a:bodyPr/>
        <a:lstStyle/>
        <a:p>
          <a:endParaRPr lang="en-US"/>
        </a:p>
      </dgm:t>
    </dgm:pt>
    <dgm:pt modelId="{C69CC900-BCB7-4259-9480-509483EB364F}" type="sibTrans" cxnId="{9A068CAB-865F-44C4-99F4-3B88500B3627}">
      <dgm:prSet/>
      <dgm:spPr/>
      <dgm:t>
        <a:bodyPr/>
        <a:lstStyle/>
        <a:p>
          <a:endParaRPr lang="en-US"/>
        </a:p>
      </dgm:t>
    </dgm:pt>
    <dgm:pt modelId="{4D395AD3-8935-4E2F-BE22-842DB834FC64}">
      <dgm:prSet/>
      <dgm:spPr/>
      <dgm:t>
        <a:bodyPr/>
        <a:lstStyle/>
        <a:p>
          <a:r>
            <a:rPr lang="en-US"/>
            <a:t>Converted date/time fields</a:t>
          </a:r>
        </a:p>
      </dgm:t>
    </dgm:pt>
    <dgm:pt modelId="{D4A83C49-130A-461C-B2D6-6E596F67C997}" type="parTrans" cxnId="{AD482936-C55B-42AA-B3C4-510FF6A673EE}">
      <dgm:prSet/>
      <dgm:spPr/>
      <dgm:t>
        <a:bodyPr/>
        <a:lstStyle/>
        <a:p>
          <a:endParaRPr lang="en-US"/>
        </a:p>
      </dgm:t>
    </dgm:pt>
    <dgm:pt modelId="{D7A8827A-907B-48F8-A122-3535FFDA82CA}" type="sibTrans" cxnId="{AD482936-C55B-42AA-B3C4-510FF6A673EE}">
      <dgm:prSet/>
      <dgm:spPr/>
      <dgm:t>
        <a:bodyPr/>
        <a:lstStyle/>
        <a:p>
          <a:endParaRPr lang="en-US"/>
        </a:p>
      </dgm:t>
    </dgm:pt>
    <dgm:pt modelId="{9F0A7C05-D0B4-459E-879A-C3DDBC170EB7}">
      <dgm:prSet/>
      <dgm:spPr/>
      <dgm:t>
        <a:bodyPr/>
        <a:lstStyle/>
        <a:p>
          <a:r>
            <a:rPr lang="en-US"/>
            <a:t>Created Year and hour variables</a:t>
          </a:r>
        </a:p>
      </dgm:t>
    </dgm:pt>
    <dgm:pt modelId="{CB4AF616-40B5-4694-9D34-5294B943022B}" type="parTrans" cxnId="{53E1041E-1779-4125-A334-491F8754BC42}">
      <dgm:prSet/>
      <dgm:spPr/>
      <dgm:t>
        <a:bodyPr/>
        <a:lstStyle/>
        <a:p>
          <a:endParaRPr lang="en-US"/>
        </a:p>
      </dgm:t>
    </dgm:pt>
    <dgm:pt modelId="{5D409C2D-3487-41AD-BE22-B57D801AF9AD}" type="sibTrans" cxnId="{53E1041E-1779-4125-A334-491F8754BC42}">
      <dgm:prSet/>
      <dgm:spPr/>
      <dgm:t>
        <a:bodyPr/>
        <a:lstStyle/>
        <a:p>
          <a:endParaRPr lang="en-US"/>
        </a:p>
      </dgm:t>
    </dgm:pt>
    <dgm:pt modelId="{03C687B5-26AA-4485-BDDA-42034E53BAC4}">
      <dgm:prSet/>
      <dgm:spPr/>
      <dgm:t>
        <a:bodyPr/>
        <a:lstStyle/>
        <a:p>
          <a:r>
            <a:rPr lang="en-US"/>
            <a:t>Merged Datasets</a:t>
          </a:r>
        </a:p>
      </dgm:t>
    </dgm:pt>
    <dgm:pt modelId="{C92C31D1-652E-462E-9554-2B7E2067C481}" type="parTrans" cxnId="{97524D8D-58F8-4FBD-B76F-C812F93A4CF1}">
      <dgm:prSet/>
      <dgm:spPr/>
      <dgm:t>
        <a:bodyPr/>
        <a:lstStyle/>
        <a:p>
          <a:endParaRPr lang="en-US"/>
        </a:p>
      </dgm:t>
    </dgm:pt>
    <dgm:pt modelId="{B07B39F9-8BDA-420D-BA43-67530EE449C7}" type="sibTrans" cxnId="{97524D8D-58F8-4FBD-B76F-C812F93A4CF1}">
      <dgm:prSet/>
      <dgm:spPr/>
      <dgm:t>
        <a:bodyPr/>
        <a:lstStyle/>
        <a:p>
          <a:endParaRPr lang="en-US"/>
        </a:p>
      </dgm:t>
    </dgm:pt>
    <dgm:pt modelId="{B1022C0F-77AD-D54D-A442-E93E185D914D}" type="pres">
      <dgm:prSet presAssocID="{41C06DAF-9469-433A-BBC7-FDFDA526968E}" presName="diagram" presStyleCnt="0">
        <dgm:presLayoutVars>
          <dgm:dir/>
          <dgm:resizeHandles val="exact"/>
        </dgm:presLayoutVars>
      </dgm:prSet>
      <dgm:spPr/>
    </dgm:pt>
    <dgm:pt modelId="{11FF5062-19B2-A24E-9F72-AC1F25393958}" type="pres">
      <dgm:prSet presAssocID="{AA05B4DE-C338-4B2E-9B03-B7BD81BEC539}" presName="arrow" presStyleLbl="node1" presStyleIdx="0" presStyleCnt="5">
        <dgm:presLayoutVars>
          <dgm:bulletEnabled val="1"/>
        </dgm:presLayoutVars>
      </dgm:prSet>
      <dgm:spPr/>
    </dgm:pt>
    <dgm:pt modelId="{A6C68A72-404C-364E-BDFA-B015AC372E3F}" type="pres">
      <dgm:prSet presAssocID="{FD7553D7-CDA8-4766-BB58-3149C5284D60}" presName="arrow" presStyleLbl="node1" presStyleIdx="1" presStyleCnt="5">
        <dgm:presLayoutVars>
          <dgm:bulletEnabled val="1"/>
        </dgm:presLayoutVars>
      </dgm:prSet>
      <dgm:spPr/>
    </dgm:pt>
    <dgm:pt modelId="{2A4FFC1B-9A72-7047-A040-EAD4FDD5F82D}" type="pres">
      <dgm:prSet presAssocID="{4D395AD3-8935-4E2F-BE22-842DB834FC64}" presName="arrow" presStyleLbl="node1" presStyleIdx="2" presStyleCnt="5">
        <dgm:presLayoutVars>
          <dgm:bulletEnabled val="1"/>
        </dgm:presLayoutVars>
      </dgm:prSet>
      <dgm:spPr/>
    </dgm:pt>
    <dgm:pt modelId="{5C5D2CEE-FBB2-984F-ADAC-34FC1F6B0344}" type="pres">
      <dgm:prSet presAssocID="{9F0A7C05-D0B4-459E-879A-C3DDBC170EB7}" presName="arrow" presStyleLbl="node1" presStyleIdx="3" presStyleCnt="5">
        <dgm:presLayoutVars>
          <dgm:bulletEnabled val="1"/>
        </dgm:presLayoutVars>
      </dgm:prSet>
      <dgm:spPr/>
    </dgm:pt>
    <dgm:pt modelId="{ABD4E317-EC4A-1643-8ADE-5689E482941B}" type="pres">
      <dgm:prSet presAssocID="{03C687B5-26AA-4485-BDDA-42034E53BAC4}" presName="arrow" presStyleLbl="node1" presStyleIdx="4" presStyleCnt="5">
        <dgm:presLayoutVars>
          <dgm:bulletEnabled val="1"/>
        </dgm:presLayoutVars>
      </dgm:prSet>
      <dgm:spPr/>
    </dgm:pt>
  </dgm:ptLst>
  <dgm:cxnLst>
    <dgm:cxn modelId="{2BC95E0B-5B9A-F443-BBB0-7D5E220BD8BE}" type="presOf" srcId="{AA05B4DE-C338-4B2E-9B03-B7BD81BEC539}" destId="{11FF5062-19B2-A24E-9F72-AC1F25393958}" srcOrd="0" destOrd="0" presId="urn:microsoft.com/office/officeart/2005/8/layout/arrow5"/>
    <dgm:cxn modelId="{D09A8410-DB60-2A47-B09D-5FA9FE5D66A3}" type="presOf" srcId="{9F0A7C05-D0B4-459E-879A-C3DDBC170EB7}" destId="{5C5D2CEE-FBB2-984F-ADAC-34FC1F6B0344}" srcOrd="0" destOrd="0" presId="urn:microsoft.com/office/officeart/2005/8/layout/arrow5"/>
    <dgm:cxn modelId="{53E1041E-1779-4125-A334-491F8754BC42}" srcId="{41C06DAF-9469-433A-BBC7-FDFDA526968E}" destId="{9F0A7C05-D0B4-459E-879A-C3DDBC170EB7}" srcOrd="3" destOrd="0" parTransId="{CB4AF616-40B5-4694-9D34-5294B943022B}" sibTransId="{5D409C2D-3487-41AD-BE22-B57D801AF9AD}"/>
    <dgm:cxn modelId="{AD482936-C55B-42AA-B3C4-510FF6A673EE}" srcId="{41C06DAF-9469-433A-BBC7-FDFDA526968E}" destId="{4D395AD3-8935-4E2F-BE22-842DB834FC64}" srcOrd="2" destOrd="0" parTransId="{D4A83C49-130A-461C-B2D6-6E596F67C997}" sibTransId="{D7A8827A-907B-48F8-A122-3535FFDA82CA}"/>
    <dgm:cxn modelId="{D3748751-8760-B54D-9F70-9EA37D9408C9}" type="presOf" srcId="{41C06DAF-9469-433A-BBC7-FDFDA526968E}" destId="{B1022C0F-77AD-D54D-A442-E93E185D914D}" srcOrd="0" destOrd="0" presId="urn:microsoft.com/office/officeart/2005/8/layout/arrow5"/>
    <dgm:cxn modelId="{4203BC8A-7D6F-9141-AA96-2F628B6AFBF3}" type="presOf" srcId="{4D395AD3-8935-4E2F-BE22-842DB834FC64}" destId="{2A4FFC1B-9A72-7047-A040-EAD4FDD5F82D}" srcOrd="0" destOrd="0" presId="urn:microsoft.com/office/officeart/2005/8/layout/arrow5"/>
    <dgm:cxn modelId="{97524D8D-58F8-4FBD-B76F-C812F93A4CF1}" srcId="{41C06DAF-9469-433A-BBC7-FDFDA526968E}" destId="{03C687B5-26AA-4485-BDDA-42034E53BAC4}" srcOrd="4" destOrd="0" parTransId="{C92C31D1-652E-462E-9554-2B7E2067C481}" sibTransId="{B07B39F9-8BDA-420D-BA43-67530EE449C7}"/>
    <dgm:cxn modelId="{2C0588A0-9919-424F-9AFA-7DFCD7AC3E4D}" srcId="{41C06DAF-9469-433A-BBC7-FDFDA526968E}" destId="{AA05B4DE-C338-4B2E-9B03-B7BD81BEC539}" srcOrd="0" destOrd="0" parTransId="{F0610464-3708-4A7B-B26C-B38F6BFC4DAE}" sibTransId="{CCB4DAB6-FCCF-472F-B662-E48CE3258C09}"/>
    <dgm:cxn modelId="{9A068CAB-865F-44C4-99F4-3B88500B3627}" srcId="{41C06DAF-9469-433A-BBC7-FDFDA526968E}" destId="{FD7553D7-CDA8-4766-BB58-3149C5284D60}" srcOrd="1" destOrd="0" parTransId="{690680CF-E923-47AA-834F-DE22045A9A4D}" sibTransId="{C69CC900-BCB7-4259-9480-509483EB364F}"/>
    <dgm:cxn modelId="{63A6B2B4-7C3C-BA4E-B9C2-E4D22773128D}" type="presOf" srcId="{03C687B5-26AA-4485-BDDA-42034E53BAC4}" destId="{ABD4E317-EC4A-1643-8ADE-5689E482941B}" srcOrd="0" destOrd="0" presId="urn:microsoft.com/office/officeart/2005/8/layout/arrow5"/>
    <dgm:cxn modelId="{926294C3-A5EA-9541-BC33-D7350B70D590}" type="presOf" srcId="{FD7553D7-CDA8-4766-BB58-3149C5284D60}" destId="{A6C68A72-404C-364E-BDFA-B015AC372E3F}" srcOrd="0" destOrd="0" presId="urn:microsoft.com/office/officeart/2005/8/layout/arrow5"/>
    <dgm:cxn modelId="{EDE9EC87-61A3-C144-B11D-13E73B6B1E36}" type="presParOf" srcId="{B1022C0F-77AD-D54D-A442-E93E185D914D}" destId="{11FF5062-19B2-A24E-9F72-AC1F25393958}" srcOrd="0" destOrd="0" presId="urn:microsoft.com/office/officeart/2005/8/layout/arrow5"/>
    <dgm:cxn modelId="{A32C451D-2D86-7944-9BC9-C8627E74F81E}" type="presParOf" srcId="{B1022C0F-77AD-D54D-A442-E93E185D914D}" destId="{A6C68A72-404C-364E-BDFA-B015AC372E3F}" srcOrd="1" destOrd="0" presId="urn:microsoft.com/office/officeart/2005/8/layout/arrow5"/>
    <dgm:cxn modelId="{BED40D93-BC5F-BB47-B83D-6B6EE77C758E}" type="presParOf" srcId="{B1022C0F-77AD-D54D-A442-E93E185D914D}" destId="{2A4FFC1B-9A72-7047-A040-EAD4FDD5F82D}" srcOrd="2" destOrd="0" presId="urn:microsoft.com/office/officeart/2005/8/layout/arrow5"/>
    <dgm:cxn modelId="{8A7E4415-224F-3B40-84D0-2E73ED6C8530}" type="presParOf" srcId="{B1022C0F-77AD-D54D-A442-E93E185D914D}" destId="{5C5D2CEE-FBB2-984F-ADAC-34FC1F6B0344}" srcOrd="3" destOrd="0" presId="urn:microsoft.com/office/officeart/2005/8/layout/arrow5"/>
    <dgm:cxn modelId="{278F511A-BED8-1D4A-9E0D-069D361A1BB9}" type="presParOf" srcId="{B1022C0F-77AD-D54D-A442-E93E185D914D}" destId="{ABD4E317-EC4A-1643-8ADE-5689E482941B}" srcOrd="4"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4BF0E-1F16-FE4E-AEFC-DF1AFFEE2196}">
      <dsp:nvSpPr>
        <dsp:cNvPr id="0" name=""/>
        <dsp:cNvSpPr/>
      </dsp:nvSpPr>
      <dsp:spPr>
        <a:xfrm>
          <a:off x="0" y="3275482"/>
          <a:ext cx="2628900" cy="107508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256032" rIns="186967" bIns="256032" numCol="1" spcCol="1270" anchor="ctr" anchorCtr="0">
          <a:noAutofit/>
        </a:bodyPr>
        <a:lstStyle/>
        <a:p>
          <a:pPr marL="0" lvl="0" indent="0" algn="ctr" defTabSz="1600200">
            <a:lnSpc>
              <a:spcPct val="90000"/>
            </a:lnSpc>
            <a:spcBef>
              <a:spcPct val="0"/>
            </a:spcBef>
            <a:spcAft>
              <a:spcPct val="35000"/>
            </a:spcAft>
            <a:buNone/>
          </a:pPr>
          <a:r>
            <a:rPr lang="en-US" sz="3600" kern="1200"/>
            <a:t>Explore</a:t>
          </a:r>
        </a:p>
      </dsp:txBody>
      <dsp:txXfrm>
        <a:off x="0" y="3275482"/>
        <a:ext cx="2628900" cy="1075086"/>
      </dsp:txXfrm>
    </dsp:sp>
    <dsp:sp modelId="{D963417B-F68C-074C-9678-EC79C8B72718}">
      <dsp:nvSpPr>
        <dsp:cNvPr id="0" name=""/>
        <dsp:cNvSpPr/>
      </dsp:nvSpPr>
      <dsp:spPr>
        <a:xfrm>
          <a:off x="2628900" y="3275482"/>
          <a:ext cx="7886700" cy="10750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304800" rIns="159980" bIns="304800" numCol="1" spcCol="1270" anchor="ctr" anchorCtr="0">
          <a:noAutofit/>
        </a:bodyPr>
        <a:lstStyle/>
        <a:p>
          <a:pPr marL="0" lvl="0" indent="0" algn="l" defTabSz="1066800">
            <a:lnSpc>
              <a:spcPct val="90000"/>
            </a:lnSpc>
            <a:spcBef>
              <a:spcPct val="0"/>
            </a:spcBef>
            <a:spcAft>
              <a:spcPct val="35000"/>
            </a:spcAft>
            <a:buNone/>
          </a:pPr>
          <a:r>
            <a:rPr lang="en-US" sz="2400" kern="1200"/>
            <a:t>Explore the demographic distribution of victims</a:t>
          </a:r>
        </a:p>
      </dsp:txBody>
      <dsp:txXfrm>
        <a:off x="2628900" y="3275482"/>
        <a:ext cx="7886700" cy="1075086"/>
      </dsp:txXfrm>
    </dsp:sp>
    <dsp:sp modelId="{B146D42F-CE62-664C-A8A8-61031CC226B8}">
      <dsp:nvSpPr>
        <dsp:cNvPr id="0" name=""/>
        <dsp:cNvSpPr/>
      </dsp:nvSpPr>
      <dsp:spPr>
        <a:xfrm rot="10800000">
          <a:off x="0" y="1638125"/>
          <a:ext cx="2628900" cy="1653482"/>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256032" rIns="186967" bIns="256032" numCol="1" spcCol="1270" anchor="ctr" anchorCtr="0">
          <a:noAutofit/>
        </a:bodyPr>
        <a:lstStyle/>
        <a:p>
          <a:pPr marL="0" lvl="0" indent="0" algn="ctr" defTabSz="1600200">
            <a:lnSpc>
              <a:spcPct val="90000"/>
            </a:lnSpc>
            <a:spcBef>
              <a:spcPct val="0"/>
            </a:spcBef>
            <a:spcAft>
              <a:spcPct val="35000"/>
            </a:spcAft>
            <a:buNone/>
          </a:pPr>
          <a:r>
            <a:rPr lang="en-US" sz="3600" kern="1200"/>
            <a:t>Identify</a:t>
          </a:r>
        </a:p>
      </dsp:txBody>
      <dsp:txXfrm rot="-10800000">
        <a:off x="0" y="1638125"/>
        <a:ext cx="2628900" cy="1074763"/>
      </dsp:txXfrm>
    </dsp:sp>
    <dsp:sp modelId="{B802C264-7D8C-5D4F-B206-B64F84F50AF7}">
      <dsp:nvSpPr>
        <dsp:cNvPr id="0" name=""/>
        <dsp:cNvSpPr/>
      </dsp:nvSpPr>
      <dsp:spPr>
        <a:xfrm>
          <a:off x="2628900" y="1638125"/>
          <a:ext cx="7886700" cy="107476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304800" rIns="159980" bIns="304800" numCol="1" spcCol="1270" anchor="ctr" anchorCtr="0">
          <a:noAutofit/>
        </a:bodyPr>
        <a:lstStyle/>
        <a:p>
          <a:pPr marL="0" lvl="0" indent="0" algn="l" defTabSz="1066800">
            <a:lnSpc>
              <a:spcPct val="90000"/>
            </a:lnSpc>
            <a:spcBef>
              <a:spcPct val="0"/>
            </a:spcBef>
            <a:spcAft>
              <a:spcPct val="35000"/>
            </a:spcAft>
            <a:buNone/>
          </a:pPr>
          <a:r>
            <a:rPr lang="en-US" sz="2400" kern="1200"/>
            <a:t>Identify where and when incidents occur</a:t>
          </a:r>
        </a:p>
      </dsp:txBody>
      <dsp:txXfrm>
        <a:off x="2628900" y="1638125"/>
        <a:ext cx="7886700" cy="1074763"/>
      </dsp:txXfrm>
    </dsp:sp>
    <dsp:sp modelId="{F7677AE1-0EB0-C24C-9FE1-44A7D76CACE2}">
      <dsp:nvSpPr>
        <dsp:cNvPr id="0" name=""/>
        <dsp:cNvSpPr/>
      </dsp:nvSpPr>
      <dsp:spPr>
        <a:xfrm rot="10800000">
          <a:off x="0" y="769"/>
          <a:ext cx="2628900" cy="1653482"/>
        </a:xfrm>
        <a:prstGeom prst="upArrowCallout">
          <a:avLst>
            <a:gd name="adj1" fmla="val 5000"/>
            <a:gd name="adj2" fmla="val 10000"/>
            <a:gd name="adj3" fmla="val 15000"/>
            <a:gd name="adj4" fmla="val 64977"/>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256032" rIns="186967" bIns="256032" numCol="1" spcCol="1270" anchor="ctr" anchorCtr="0">
          <a:noAutofit/>
        </a:bodyPr>
        <a:lstStyle/>
        <a:p>
          <a:pPr marL="0" lvl="0" indent="0" algn="ctr" defTabSz="1600200">
            <a:lnSpc>
              <a:spcPct val="90000"/>
            </a:lnSpc>
            <a:spcBef>
              <a:spcPct val="0"/>
            </a:spcBef>
            <a:spcAft>
              <a:spcPct val="35000"/>
            </a:spcAft>
            <a:buNone/>
          </a:pPr>
          <a:r>
            <a:rPr lang="en-US" sz="3600" kern="1200"/>
            <a:t>Understand</a:t>
          </a:r>
        </a:p>
      </dsp:txBody>
      <dsp:txXfrm rot="-10800000">
        <a:off x="0" y="769"/>
        <a:ext cx="2628900" cy="1074763"/>
      </dsp:txXfrm>
    </dsp:sp>
    <dsp:sp modelId="{43733390-8E37-3145-ABFB-54E36D3D9E78}">
      <dsp:nvSpPr>
        <dsp:cNvPr id="0" name=""/>
        <dsp:cNvSpPr/>
      </dsp:nvSpPr>
      <dsp:spPr>
        <a:xfrm>
          <a:off x="2628900" y="769"/>
          <a:ext cx="7886700" cy="1074763"/>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304800" rIns="159980" bIns="304800" numCol="1" spcCol="1270" anchor="ctr" anchorCtr="0">
          <a:noAutofit/>
        </a:bodyPr>
        <a:lstStyle/>
        <a:p>
          <a:pPr marL="0" lvl="0" indent="0" algn="l" defTabSz="1066800">
            <a:lnSpc>
              <a:spcPct val="90000"/>
            </a:lnSpc>
            <a:spcBef>
              <a:spcPct val="0"/>
            </a:spcBef>
            <a:spcAft>
              <a:spcPct val="35000"/>
            </a:spcAft>
            <a:buNone/>
          </a:pPr>
          <a:r>
            <a:rPr lang="en-US" sz="2400" kern="1200" dirty="0"/>
            <a:t>Understand the shooting patterns in NYC</a:t>
          </a:r>
        </a:p>
      </dsp:txBody>
      <dsp:txXfrm>
        <a:off x="2628900" y="769"/>
        <a:ext cx="7886700" cy="10747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B4E4E5-DC0D-2341-838F-A408AA605466}">
      <dsp:nvSpPr>
        <dsp:cNvPr id="0" name=""/>
        <dsp:cNvSpPr/>
      </dsp:nvSpPr>
      <dsp:spPr>
        <a:xfrm>
          <a:off x="3082131" y="0"/>
          <a:ext cx="4351338" cy="435133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62310B-2CEF-EE48-A86C-BA50010960B3}">
      <dsp:nvSpPr>
        <dsp:cNvPr id="0" name=""/>
        <dsp:cNvSpPr/>
      </dsp:nvSpPr>
      <dsp:spPr>
        <a:xfrm>
          <a:off x="3495508" y="413377"/>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Which boroughs have the highest shooting rates?</a:t>
          </a:r>
        </a:p>
      </dsp:txBody>
      <dsp:txXfrm>
        <a:off x="3578350" y="496219"/>
        <a:ext cx="1531337" cy="1531337"/>
      </dsp:txXfrm>
    </dsp:sp>
    <dsp:sp modelId="{67500444-7AED-124B-A1E9-5534381A610A}">
      <dsp:nvSpPr>
        <dsp:cNvPr id="0" name=""/>
        <dsp:cNvSpPr/>
      </dsp:nvSpPr>
      <dsp:spPr>
        <a:xfrm>
          <a:off x="5323070" y="413377"/>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What age/sex/race groups are most affected?</a:t>
          </a:r>
        </a:p>
      </dsp:txBody>
      <dsp:txXfrm>
        <a:off x="5405912" y="496219"/>
        <a:ext cx="1531337" cy="1531337"/>
      </dsp:txXfrm>
    </dsp:sp>
    <dsp:sp modelId="{7EBA7F83-1816-CC4D-A696-C29C5EA7F7F6}">
      <dsp:nvSpPr>
        <dsp:cNvPr id="0" name=""/>
        <dsp:cNvSpPr/>
      </dsp:nvSpPr>
      <dsp:spPr>
        <a:xfrm>
          <a:off x="3495508" y="2240939"/>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When do shootings most often occur?</a:t>
          </a:r>
        </a:p>
      </dsp:txBody>
      <dsp:txXfrm>
        <a:off x="3578350" y="2323781"/>
        <a:ext cx="1531337" cy="1531337"/>
      </dsp:txXfrm>
    </dsp:sp>
    <dsp:sp modelId="{9A648631-3CF3-334C-BCC8-6CCBDDD63CA2}">
      <dsp:nvSpPr>
        <dsp:cNvPr id="0" name=""/>
        <dsp:cNvSpPr/>
      </dsp:nvSpPr>
      <dsp:spPr>
        <a:xfrm>
          <a:off x="5323070" y="2240939"/>
          <a:ext cx="1697021" cy="16970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What areas can use additional resources?</a:t>
          </a:r>
        </a:p>
      </dsp:txBody>
      <dsp:txXfrm>
        <a:off x="5405912" y="2323781"/>
        <a:ext cx="1531337" cy="15313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FF5062-19B2-A24E-9F72-AC1F25393958}">
      <dsp:nvSpPr>
        <dsp:cNvPr id="0" name=""/>
        <dsp:cNvSpPr/>
      </dsp:nvSpPr>
      <dsp:spPr>
        <a:xfrm>
          <a:off x="4419581" y="937"/>
          <a:ext cx="1676437" cy="1676437"/>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Removed missing values</a:t>
          </a:r>
        </a:p>
      </dsp:txBody>
      <dsp:txXfrm>
        <a:off x="4838690" y="937"/>
        <a:ext cx="838219" cy="1383061"/>
      </dsp:txXfrm>
    </dsp:sp>
    <dsp:sp modelId="{A6C68A72-404C-364E-BDFA-B015AC372E3F}">
      <dsp:nvSpPr>
        <dsp:cNvPr id="0" name=""/>
        <dsp:cNvSpPr/>
      </dsp:nvSpPr>
      <dsp:spPr>
        <a:xfrm rot="4320000">
          <a:off x="5824873" y="1021942"/>
          <a:ext cx="1676437" cy="1676437"/>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Standardized categories</a:t>
          </a:r>
        </a:p>
      </dsp:txBody>
      <dsp:txXfrm rot="-5400000">
        <a:off x="6111070" y="1395722"/>
        <a:ext cx="1383061" cy="838219"/>
      </dsp:txXfrm>
    </dsp:sp>
    <dsp:sp modelId="{2A4FFC1B-9A72-7047-A040-EAD4FDD5F82D}">
      <dsp:nvSpPr>
        <dsp:cNvPr id="0" name=""/>
        <dsp:cNvSpPr/>
      </dsp:nvSpPr>
      <dsp:spPr>
        <a:xfrm rot="8640000">
          <a:off x="5288099" y="2673963"/>
          <a:ext cx="1676437" cy="1676437"/>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Converted date/time fields</a:t>
          </a:r>
        </a:p>
      </dsp:txBody>
      <dsp:txXfrm rot="10800000">
        <a:off x="5793429" y="2939324"/>
        <a:ext cx="838219" cy="1383061"/>
      </dsp:txXfrm>
    </dsp:sp>
    <dsp:sp modelId="{5C5D2CEE-FBB2-984F-ADAC-34FC1F6B0344}">
      <dsp:nvSpPr>
        <dsp:cNvPr id="0" name=""/>
        <dsp:cNvSpPr/>
      </dsp:nvSpPr>
      <dsp:spPr>
        <a:xfrm rot="12960000">
          <a:off x="3551062" y="2673963"/>
          <a:ext cx="1676437" cy="1676437"/>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Created Year and hour variables</a:t>
          </a:r>
        </a:p>
      </dsp:txBody>
      <dsp:txXfrm rot="10800000">
        <a:off x="3883950" y="2939324"/>
        <a:ext cx="838219" cy="1383061"/>
      </dsp:txXfrm>
    </dsp:sp>
    <dsp:sp modelId="{ABD4E317-EC4A-1643-8ADE-5689E482941B}">
      <dsp:nvSpPr>
        <dsp:cNvPr id="0" name=""/>
        <dsp:cNvSpPr/>
      </dsp:nvSpPr>
      <dsp:spPr>
        <a:xfrm rot="17280000">
          <a:off x="3014288" y="1021942"/>
          <a:ext cx="1676437" cy="1676437"/>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Merged Datasets</a:t>
          </a:r>
        </a:p>
      </dsp:txBody>
      <dsp:txXfrm rot="5400000">
        <a:off x="3021467" y="1395722"/>
        <a:ext cx="1383061" cy="838219"/>
      </dsp:txXfrm>
    </dsp:sp>
  </dsp:spTree>
</dsp:drawing>
</file>

<file path=ppt/diagrams/layout1.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A19306-4496-9B45-BBC4-CA54C140546C}"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4DCE89-F8B0-6C43-AF97-2BA5EBC5C65E}" type="slidenum">
              <a:rPr lang="en-US" smtClean="0"/>
              <a:t>‹#›</a:t>
            </a:fld>
            <a:endParaRPr lang="en-US"/>
          </a:p>
        </p:txBody>
      </p:sp>
    </p:spTree>
    <p:extLst>
      <p:ext uri="{BB962C8B-B14F-4D97-AF65-F5344CB8AC3E}">
        <p14:creationId xmlns:p14="http://schemas.microsoft.com/office/powerpoint/2010/main" val="1562222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514AA-B6DE-0187-9E8D-F177B9A029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2BE93D-F0DC-782C-AAA4-E01AC9FEB2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81AA34-B184-FAC7-3509-7BCC369DCD77}"/>
              </a:ext>
            </a:extLst>
          </p:cNvPr>
          <p:cNvSpPr>
            <a:spLocks noGrp="1"/>
          </p:cNvSpPr>
          <p:nvPr>
            <p:ph type="dt" sz="half" idx="10"/>
          </p:nvPr>
        </p:nvSpPr>
        <p:spPr/>
        <p:txBody>
          <a:bodyPr/>
          <a:lstStyle/>
          <a:p>
            <a:fld id="{FCB36316-ABF8-4B46-A418-C8A7F7906FC0}" type="datetimeFigureOut">
              <a:rPr lang="en-US" smtClean="0"/>
              <a:t>6/1/2026</a:t>
            </a:fld>
            <a:endParaRPr lang="en-US"/>
          </a:p>
        </p:txBody>
      </p:sp>
      <p:sp>
        <p:nvSpPr>
          <p:cNvPr id="5" name="Footer Placeholder 4">
            <a:extLst>
              <a:ext uri="{FF2B5EF4-FFF2-40B4-BE49-F238E27FC236}">
                <a16:creationId xmlns:a16="http://schemas.microsoft.com/office/drawing/2014/main" id="{8285D6D0-A77F-8775-21F6-98BD891AA4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51992B-08D4-7899-358D-BBB1BA0385AF}"/>
              </a:ext>
            </a:extLst>
          </p:cNvPr>
          <p:cNvSpPr>
            <a:spLocks noGrp="1"/>
          </p:cNvSpPr>
          <p:nvPr>
            <p:ph type="sldNum" sz="quarter" idx="12"/>
          </p:nvPr>
        </p:nvSpPr>
        <p:spPr/>
        <p:txBody>
          <a:bodyPr/>
          <a:lstStyle/>
          <a:p>
            <a:fld id="{AB8D7FAC-DB79-5843-8C7A-9381081E8365}" type="slidenum">
              <a:rPr lang="en-US" smtClean="0"/>
              <a:t>‹#›</a:t>
            </a:fld>
            <a:endParaRPr lang="en-US"/>
          </a:p>
        </p:txBody>
      </p:sp>
    </p:spTree>
    <p:extLst>
      <p:ext uri="{BB962C8B-B14F-4D97-AF65-F5344CB8AC3E}">
        <p14:creationId xmlns:p14="http://schemas.microsoft.com/office/powerpoint/2010/main" val="585062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BE7F9-E1D4-21B8-9A8F-DA8F712EBA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E1DDA8-A385-E567-BD77-D3A2E2665E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E873B5-69D4-D64D-58CD-8D5E6A5EF46A}"/>
              </a:ext>
            </a:extLst>
          </p:cNvPr>
          <p:cNvSpPr>
            <a:spLocks noGrp="1"/>
          </p:cNvSpPr>
          <p:nvPr>
            <p:ph type="dt" sz="half" idx="10"/>
          </p:nvPr>
        </p:nvSpPr>
        <p:spPr/>
        <p:txBody>
          <a:bodyPr/>
          <a:lstStyle/>
          <a:p>
            <a:fld id="{FCB36316-ABF8-4B46-A418-C8A7F7906FC0}" type="datetimeFigureOut">
              <a:rPr lang="en-US" smtClean="0"/>
              <a:t>6/1/2026</a:t>
            </a:fld>
            <a:endParaRPr lang="en-US"/>
          </a:p>
        </p:txBody>
      </p:sp>
      <p:sp>
        <p:nvSpPr>
          <p:cNvPr id="5" name="Footer Placeholder 4">
            <a:extLst>
              <a:ext uri="{FF2B5EF4-FFF2-40B4-BE49-F238E27FC236}">
                <a16:creationId xmlns:a16="http://schemas.microsoft.com/office/drawing/2014/main" id="{91F42201-787D-F30D-EBE0-C2C8F7EB3A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22B846-4D75-5778-FAC4-C5824299B09F}"/>
              </a:ext>
            </a:extLst>
          </p:cNvPr>
          <p:cNvSpPr>
            <a:spLocks noGrp="1"/>
          </p:cNvSpPr>
          <p:nvPr>
            <p:ph type="sldNum" sz="quarter" idx="12"/>
          </p:nvPr>
        </p:nvSpPr>
        <p:spPr/>
        <p:txBody>
          <a:bodyPr/>
          <a:lstStyle/>
          <a:p>
            <a:fld id="{AB8D7FAC-DB79-5843-8C7A-9381081E8365}" type="slidenum">
              <a:rPr lang="en-US" smtClean="0"/>
              <a:t>‹#›</a:t>
            </a:fld>
            <a:endParaRPr lang="en-US"/>
          </a:p>
        </p:txBody>
      </p:sp>
    </p:spTree>
    <p:extLst>
      <p:ext uri="{BB962C8B-B14F-4D97-AF65-F5344CB8AC3E}">
        <p14:creationId xmlns:p14="http://schemas.microsoft.com/office/powerpoint/2010/main" val="2666062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DBF9F-C5E9-8F7F-6ED2-3769C6BEAA3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C8A9C1-F908-706B-C5EA-8EF393EE03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447001-D311-E708-9EB8-65849C6EC1DC}"/>
              </a:ext>
            </a:extLst>
          </p:cNvPr>
          <p:cNvSpPr>
            <a:spLocks noGrp="1"/>
          </p:cNvSpPr>
          <p:nvPr>
            <p:ph type="dt" sz="half" idx="10"/>
          </p:nvPr>
        </p:nvSpPr>
        <p:spPr/>
        <p:txBody>
          <a:bodyPr/>
          <a:lstStyle/>
          <a:p>
            <a:fld id="{FCB36316-ABF8-4B46-A418-C8A7F7906FC0}" type="datetimeFigureOut">
              <a:rPr lang="en-US" smtClean="0"/>
              <a:t>6/1/2026</a:t>
            </a:fld>
            <a:endParaRPr lang="en-US"/>
          </a:p>
        </p:txBody>
      </p:sp>
      <p:sp>
        <p:nvSpPr>
          <p:cNvPr id="5" name="Footer Placeholder 4">
            <a:extLst>
              <a:ext uri="{FF2B5EF4-FFF2-40B4-BE49-F238E27FC236}">
                <a16:creationId xmlns:a16="http://schemas.microsoft.com/office/drawing/2014/main" id="{3B078F52-25CA-9BC0-D70C-885D54643E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DA88E5-75AF-99CE-B96D-9570FAC4E357}"/>
              </a:ext>
            </a:extLst>
          </p:cNvPr>
          <p:cNvSpPr>
            <a:spLocks noGrp="1"/>
          </p:cNvSpPr>
          <p:nvPr>
            <p:ph type="sldNum" sz="quarter" idx="12"/>
          </p:nvPr>
        </p:nvSpPr>
        <p:spPr/>
        <p:txBody>
          <a:bodyPr/>
          <a:lstStyle/>
          <a:p>
            <a:fld id="{AB8D7FAC-DB79-5843-8C7A-9381081E8365}" type="slidenum">
              <a:rPr lang="en-US" smtClean="0"/>
              <a:t>‹#›</a:t>
            </a:fld>
            <a:endParaRPr lang="en-US"/>
          </a:p>
        </p:txBody>
      </p:sp>
    </p:spTree>
    <p:extLst>
      <p:ext uri="{BB962C8B-B14F-4D97-AF65-F5344CB8AC3E}">
        <p14:creationId xmlns:p14="http://schemas.microsoft.com/office/powerpoint/2010/main" val="3048358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1F3A5-E0EF-0756-84EC-19C8797DAA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E7779DF-19BF-D2FB-425F-EDE7219C15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4BA395-1DFF-2A7D-7AE4-767590AF07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F9AE19-3F2C-80D5-FFF9-A73CDA20E00F}"/>
              </a:ext>
            </a:extLst>
          </p:cNvPr>
          <p:cNvSpPr>
            <a:spLocks noGrp="1"/>
          </p:cNvSpPr>
          <p:nvPr>
            <p:ph type="dt" sz="half" idx="10"/>
          </p:nvPr>
        </p:nvSpPr>
        <p:spPr/>
        <p:txBody>
          <a:bodyPr/>
          <a:lstStyle/>
          <a:p>
            <a:fld id="{FCB36316-ABF8-4B46-A418-C8A7F7906FC0}" type="datetimeFigureOut">
              <a:rPr lang="en-US" smtClean="0"/>
              <a:t>6/1/2026</a:t>
            </a:fld>
            <a:endParaRPr lang="en-US"/>
          </a:p>
        </p:txBody>
      </p:sp>
      <p:sp>
        <p:nvSpPr>
          <p:cNvPr id="6" name="Footer Placeholder 5">
            <a:extLst>
              <a:ext uri="{FF2B5EF4-FFF2-40B4-BE49-F238E27FC236}">
                <a16:creationId xmlns:a16="http://schemas.microsoft.com/office/drawing/2014/main" id="{15598B72-5455-97D2-1C5E-95262FAA37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72C7EB-C5C0-EDA2-4D37-DC2A51FD9C85}"/>
              </a:ext>
            </a:extLst>
          </p:cNvPr>
          <p:cNvSpPr>
            <a:spLocks noGrp="1"/>
          </p:cNvSpPr>
          <p:nvPr>
            <p:ph type="sldNum" sz="quarter" idx="12"/>
          </p:nvPr>
        </p:nvSpPr>
        <p:spPr/>
        <p:txBody>
          <a:bodyPr/>
          <a:lstStyle/>
          <a:p>
            <a:fld id="{AB8D7FAC-DB79-5843-8C7A-9381081E8365}" type="slidenum">
              <a:rPr lang="en-US" smtClean="0"/>
              <a:t>‹#›</a:t>
            </a:fld>
            <a:endParaRPr lang="en-US"/>
          </a:p>
        </p:txBody>
      </p:sp>
    </p:spTree>
    <p:extLst>
      <p:ext uri="{BB962C8B-B14F-4D97-AF65-F5344CB8AC3E}">
        <p14:creationId xmlns:p14="http://schemas.microsoft.com/office/powerpoint/2010/main" val="1519684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731E2-8A01-6FC3-223F-98A6F516D5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372D29-FB4A-23DB-CAD0-E3A62C6DD2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18326F-92B6-7A03-AF45-0A529FF8D6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45312E6-AD97-B522-EE83-F28E025460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C5E670-224A-9611-F4D8-D8C463CF8E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A3FA07-B865-BDF8-F7FB-159D991D03FE}"/>
              </a:ext>
            </a:extLst>
          </p:cNvPr>
          <p:cNvSpPr>
            <a:spLocks noGrp="1"/>
          </p:cNvSpPr>
          <p:nvPr>
            <p:ph type="dt" sz="half" idx="10"/>
          </p:nvPr>
        </p:nvSpPr>
        <p:spPr/>
        <p:txBody>
          <a:bodyPr/>
          <a:lstStyle/>
          <a:p>
            <a:fld id="{FCB36316-ABF8-4B46-A418-C8A7F7906FC0}" type="datetimeFigureOut">
              <a:rPr lang="en-US" smtClean="0"/>
              <a:t>6/1/2026</a:t>
            </a:fld>
            <a:endParaRPr lang="en-US"/>
          </a:p>
        </p:txBody>
      </p:sp>
      <p:sp>
        <p:nvSpPr>
          <p:cNvPr id="8" name="Footer Placeholder 7">
            <a:extLst>
              <a:ext uri="{FF2B5EF4-FFF2-40B4-BE49-F238E27FC236}">
                <a16:creationId xmlns:a16="http://schemas.microsoft.com/office/drawing/2014/main" id="{A74358A6-89A3-D8FD-0649-A96E9C7A9F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C8239E-2E7D-19B7-4594-B5A0944E5389}"/>
              </a:ext>
            </a:extLst>
          </p:cNvPr>
          <p:cNvSpPr>
            <a:spLocks noGrp="1"/>
          </p:cNvSpPr>
          <p:nvPr>
            <p:ph type="sldNum" sz="quarter" idx="12"/>
          </p:nvPr>
        </p:nvSpPr>
        <p:spPr/>
        <p:txBody>
          <a:bodyPr/>
          <a:lstStyle/>
          <a:p>
            <a:fld id="{AB8D7FAC-DB79-5843-8C7A-9381081E8365}" type="slidenum">
              <a:rPr lang="en-US" smtClean="0"/>
              <a:t>‹#›</a:t>
            </a:fld>
            <a:endParaRPr lang="en-US"/>
          </a:p>
        </p:txBody>
      </p:sp>
    </p:spTree>
    <p:extLst>
      <p:ext uri="{BB962C8B-B14F-4D97-AF65-F5344CB8AC3E}">
        <p14:creationId xmlns:p14="http://schemas.microsoft.com/office/powerpoint/2010/main" val="2794633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B3053-1CA1-11AF-1F72-C02BF5D2FD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DA4F36-D6FE-3D79-7265-5484A194B330}"/>
              </a:ext>
            </a:extLst>
          </p:cNvPr>
          <p:cNvSpPr>
            <a:spLocks noGrp="1"/>
          </p:cNvSpPr>
          <p:nvPr>
            <p:ph type="dt" sz="half" idx="10"/>
          </p:nvPr>
        </p:nvSpPr>
        <p:spPr/>
        <p:txBody>
          <a:bodyPr/>
          <a:lstStyle/>
          <a:p>
            <a:fld id="{FCB36316-ABF8-4B46-A418-C8A7F7906FC0}" type="datetimeFigureOut">
              <a:rPr lang="en-US" smtClean="0"/>
              <a:t>6/1/2026</a:t>
            </a:fld>
            <a:endParaRPr lang="en-US"/>
          </a:p>
        </p:txBody>
      </p:sp>
      <p:sp>
        <p:nvSpPr>
          <p:cNvPr id="4" name="Footer Placeholder 3">
            <a:extLst>
              <a:ext uri="{FF2B5EF4-FFF2-40B4-BE49-F238E27FC236}">
                <a16:creationId xmlns:a16="http://schemas.microsoft.com/office/drawing/2014/main" id="{21A618DB-A8D6-26C3-43BE-F8B4D3B167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5F9772-20E1-ED70-8666-EAEA982F4AAE}"/>
              </a:ext>
            </a:extLst>
          </p:cNvPr>
          <p:cNvSpPr>
            <a:spLocks noGrp="1"/>
          </p:cNvSpPr>
          <p:nvPr>
            <p:ph type="sldNum" sz="quarter" idx="12"/>
          </p:nvPr>
        </p:nvSpPr>
        <p:spPr/>
        <p:txBody>
          <a:bodyPr/>
          <a:lstStyle/>
          <a:p>
            <a:fld id="{AB8D7FAC-DB79-5843-8C7A-9381081E8365}" type="slidenum">
              <a:rPr lang="en-US" smtClean="0"/>
              <a:t>‹#›</a:t>
            </a:fld>
            <a:endParaRPr lang="en-US"/>
          </a:p>
        </p:txBody>
      </p:sp>
    </p:spTree>
    <p:extLst>
      <p:ext uri="{BB962C8B-B14F-4D97-AF65-F5344CB8AC3E}">
        <p14:creationId xmlns:p14="http://schemas.microsoft.com/office/powerpoint/2010/main" val="318953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EDD44C-7BE1-5949-8061-5BB7F759E488}"/>
              </a:ext>
            </a:extLst>
          </p:cNvPr>
          <p:cNvSpPr>
            <a:spLocks noGrp="1"/>
          </p:cNvSpPr>
          <p:nvPr>
            <p:ph type="dt" sz="half" idx="10"/>
          </p:nvPr>
        </p:nvSpPr>
        <p:spPr/>
        <p:txBody>
          <a:bodyPr/>
          <a:lstStyle/>
          <a:p>
            <a:fld id="{FCB36316-ABF8-4B46-A418-C8A7F7906FC0}" type="datetimeFigureOut">
              <a:rPr lang="en-US" smtClean="0"/>
              <a:t>6/1/2026</a:t>
            </a:fld>
            <a:endParaRPr lang="en-US"/>
          </a:p>
        </p:txBody>
      </p:sp>
      <p:sp>
        <p:nvSpPr>
          <p:cNvPr id="3" name="Footer Placeholder 2">
            <a:extLst>
              <a:ext uri="{FF2B5EF4-FFF2-40B4-BE49-F238E27FC236}">
                <a16:creationId xmlns:a16="http://schemas.microsoft.com/office/drawing/2014/main" id="{013B5CAF-47CE-FFA5-0C43-9C1AD7A735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1DD436-7C00-4DDD-1E6F-5907E6E14427}"/>
              </a:ext>
            </a:extLst>
          </p:cNvPr>
          <p:cNvSpPr>
            <a:spLocks noGrp="1"/>
          </p:cNvSpPr>
          <p:nvPr>
            <p:ph type="sldNum" sz="quarter" idx="12"/>
          </p:nvPr>
        </p:nvSpPr>
        <p:spPr/>
        <p:txBody>
          <a:bodyPr/>
          <a:lstStyle/>
          <a:p>
            <a:fld id="{AB8D7FAC-DB79-5843-8C7A-9381081E8365}" type="slidenum">
              <a:rPr lang="en-US" smtClean="0"/>
              <a:t>‹#›</a:t>
            </a:fld>
            <a:endParaRPr lang="en-US"/>
          </a:p>
        </p:txBody>
      </p:sp>
    </p:spTree>
    <p:extLst>
      <p:ext uri="{BB962C8B-B14F-4D97-AF65-F5344CB8AC3E}">
        <p14:creationId xmlns:p14="http://schemas.microsoft.com/office/powerpoint/2010/main" val="1637847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596C9-932C-9757-3476-45D83E805D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948A3E-2BB6-E26A-A355-9DB5803106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E183E3-41C5-8274-6A25-760036653B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F94578-FBE0-C717-336A-B1AA37C62F91}"/>
              </a:ext>
            </a:extLst>
          </p:cNvPr>
          <p:cNvSpPr>
            <a:spLocks noGrp="1"/>
          </p:cNvSpPr>
          <p:nvPr>
            <p:ph type="dt" sz="half" idx="10"/>
          </p:nvPr>
        </p:nvSpPr>
        <p:spPr/>
        <p:txBody>
          <a:bodyPr/>
          <a:lstStyle/>
          <a:p>
            <a:fld id="{FCB36316-ABF8-4B46-A418-C8A7F7906FC0}" type="datetimeFigureOut">
              <a:rPr lang="en-US" smtClean="0"/>
              <a:t>6/1/2026</a:t>
            </a:fld>
            <a:endParaRPr lang="en-US"/>
          </a:p>
        </p:txBody>
      </p:sp>
      <p:sp>
        <p:nvSpPr>
          <p:cNvPr id="6" name="Footer Placeholder 5">
            <a:extLst>
              <a:ext uri="{FF2B5EF4-FFF2-40B4-BE49-F238E27FC236}">
                <a16:creationId xmlns:a16="http://schemas.microsoft.com/office/drawing/2014/main" id="{8AD06A34-A24E-CA67-2FFD-EDFC9FC08E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A1013-7C25-D15A-FA24-D9675D346DCA}"/>
              </a:ext>
            </a:extLst>
          </p:cNvPr>
          <p:cNvSpPr>
            <a:spLocks noGrp="1"/>
          </p:cNvSpPr>
          <p:nvPr>
            <p:ph type="sldNum" sz="quarter" idx="12"/>
          </p:nvPr>
        </p:nvSpPr>
        <p:spPr/>
        <p:txBody>
          <a:bodyPr/>
          <a:lstStyle/>
          <a:p>
            <a:fld id="{AB8D7FAC-DB79-5843-8C7A-9381081E8365}" type="slidenum">
              <a:rPr lang="en-US" smtClean="0"/>
              <a:t>‹#›</a:t>
            </a:fld>
            <a:endParaRPr lang="en-US"/>
          </a:p>
        </p:txBody>
      </p:sp>
    </p:spTree>
    <p:extLst>
      <p:ext uri="{BB962C8B-B14F-4D97-AF65-F5344CB8AC3E}">
        <p14:creationId xmlns:p14="http://schemas.microsoft.com/office/powerpoint/2010/main" val="633151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D60B-7FAB-F3ED-7473-BBD33BF8D0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436AAE-0218-7B3A-F48E-953C0FC885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7DA552-B4D5-A638-E004-0355B8F590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FBF6B4-BA52-4DE0-A6C5-08E5A3D7F4C5}"/>
              </a:ext>
            </a:extLst>
          </p:cNvPr>
          <p:cNvSpPr>
            <a:spLocks noGrp="1"/>
          </p:cNvSpPr>
          <p:nvPr>
            <p:ph type="dt" sz="half" idx="10"/>
          </p:nvPr>
        </p:nvSpPr>
        <p:spPr/>
        <p:txBody>
          <a:bodyPr/>
          <a:lstStyle/>
          <a:p>
            <a:fld id="{FCB36316-ABF8-4B46-A418-C8A7F7906FC0}" type="datetimeFigureOut">
              <a:rPr lang="en-US" smtClean="0"/>
              <a:t>6/1/2026</a:t>
            </a:fld>
            <a:endParaRPr lang="en-US"/>
          </a:p>
        </p:txBody>
      </p:sp>
      <p:sp>
        <p:nvSpPr>
          <p:cNvPr id="6" name="Footer Placeholder 5">
            <a:extLst>
              <a:ext uri="{FF2B5EF4-FFF2-40B4-BE49-F238E27FC236}">
                <a16:creationId xmlns:a16="http://schemas.microsoft.com/office/drawing/2014/main" id="{396153BB-750D-AA47-C30B-EB98715247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337FC4-5150-3CF0-E885-4EC5C2649067}"/>
              </a:ext>
            </a:extLst>
          </p:cNvPr>
          <p:cNvSpPr>
            <a:spLocks noGrp="1"/>
          </p:cNvSpPr>
          <p:nvPr>
            <p:ph type="sldNum" sz="quarter" idx="12"/>
          </p:nvPr>
        </p:nvSpPr>
        <p:spPr/>
        <p:txBody>
          <a:bodyPr/>
          <a:lstStyle/>
          <a:p>
            <a:fld id="{AB8D7FAC-DB79-5843-8C7A-9381081E8365}" type="slidenum">
              <a:rPr lang="en-US" smtClean="0"/>
              <a:t>‹#›</a:t>
            </a:fld>
            <a:endParaRPr lang="en-US"/>
          </a:p>
        </p:txBody>
      </p:sp>
    </p:spTree>
    <p:extLst>
      <p:ext uri="{BB962C8B-B14F-4D97-AF65-F5344CB8AC3E}">
        <p14:creationId xmlns:p14="http://schemas.microsoft.com/office/powerpoint/2010/main" val="2451646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C8051-BDA5-4F26-BCE9-97BCF961E7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1EBAC3-EFFF-00CF-E8F4-12D133E274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980A22-7452-E3BC-AF3F-66D31A6BAB18}"/>
              </a:ext>
            </a:extLst>
          </p:cNvPr>
          <p:cNvSpPr>
            <a:spLocks noGrp="1"/>
          </p:cNvSpPr>
          <p:nvPr>
            <p:ph type="dt" sz="half" idx="10"/>
          </p:nvPr>
        </p:nvSpPr>
        <p:spPr/>
        <p:txBody>
          <a:bodyPr/>
          <a:lstStyle/>
          <a:p>
            <a:fld id="{FCB36316-ABF8-4B46-A418-C8A7F7906FC0}" type="datetimeFigureOut">
              <a:rPr lang="en-US" smtClean="0"/>
              <a:t>6/1/2026</a:t>
            </a:fld>
            <a:endParaRPr lang="en-US"/>
          </a:p>
        </p:txBody>
      </p:sp>
      <p:sp>
        <p:nvSpPr>
          <p:cNvPr id="5" name="Footer Placeholder 4">
            <a:extLst>
              <a:ext uri="{FF2B5EF4-FFF2-40B4-BE49-F238E27FC236}">
                <a16:creationId xmlns:a16="http://schemas.microsoft.com/office/drawing/2014/main" id="{21487790-7961-BA7B-E3F0-B96377DBD8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FFCEC8-F473-3D2F-C505-8FF248F9B41C}"/>
              </a:ext>
            </a:extLst>
          </p:cNvPr>
          <p:cNvSpPr>
            <a:spLocks noGrp="1"/>
          </p:cNvSpPr>
          <p:nvPr>
            <p:ph type="sldNum" sz="quarter" idx="12"/>
          </p:nvPr>
        </p:nvSpPr>
        <p:spPr/>
        <p:txBody>
          <a:bodyPr/>
          <a:lstStyle/>
          <a:p>
            <a:fld id="{AB8D7FAC-DB79-5843-8C7A-9381081E8365}" type="slidenum">
              <a:rPr lang="en-US" smtClean="0"/>
              <a:t>‹#›</a:t>
            </a:fld>
            <a:endParaRPr lang="en-US"/>
          </a:p>
        </p:txBody>
      </p:sp>
    </p:spTree>
    <p:extLst>
      <p:ext uri="{BB962C8B-B14F-4D97-AF65-F5344CB8AC3E}">
        <p14:creationId xmlns:p14="http://schemas.microsoft.com/office/powerpoint/2010/main" val="27400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FF5C43-D29C-3F11-3491-87381549B8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DCD267-0328-7D23-E67F-641436B7B2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0FCC0D-CECA-B231-2B82-1A6C3FF2CA23}"/>
              </a:ext>
            </a:extLst>
          </p:cNvPr>
          <p:cNvSpPr>
            <a:spLocks noGrp="1"/>
          </p:cNvSpPr>
          <p:nvPr>
            <p:ph type="dt" sz="half" idx="10"/>
          </p:nvPr>
        </p:nvSpPr>
        <p:spPr/>
        <p:txBody>
          <a:bodyPr/>
          <a:lstStyle/>
          <a:p>
            <a:fld id="{FCB36316-ABF8-4B46-A418-C8A7F7906FC0}" type="datetimeFigureOut">
              <a:rPr lang="en-US" smtClean="0"/>
              <a:t>6/1/2026</a:t>
            </a:fld>
            <a:endParaRPr lang="en-US"/>
          </a:p>
        </p:txBody>
      </p:sp>
      <p:sp>
        <p:nvSpPr>
          <p:cNvPr id="5" name="Footer Placeholder 4">
            <a:extLst>
              <a:ext uri="{FF2B5EF4-FFF2-40B4-BE49-F238E27FC236}">
                <a16:creationId xmlns:a16="http://schemas.microsoft.com/office/drawing/2014/main" id="{295F1288-829C-FA57-4203-6B5E883325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26041-B171-7AC9-62D3-984A208F6AEC}"/>
              </a:ext>
            </a:extLst>
          </p:cNvPr>
          <p:cNvSpPr>
            <a:spLocks noGrp="1"/>
          </p:cNvSpPr>
          <p:nvPr>
            <p:ph type="sldNum" sz="quarter" idx="12"/>
          </p:nvPr>
        </p:nvSpPr>
        <p:spPr/>
        <p:txBody>
          <a:bodyPr/>
          <a:lstStyle/>
          <a:p>
            <a:fld id="{AB8D7FAC-DB79-5843-8C7A-9381081E8365}" type="slidenum">
              <a:rPr lang="en-US" smtClean="0"/>
              <a:t>‹#›</a:t>
            </a:fld>
            <a:endParaRPr lang="en-US"/>
          </a:p>
        </p:txBody>
      </p:sp>
    </p:spTree>
    <p:extLst>
      <p:ext uri="{BB962C8B-B14F-4D97-AF65-F5344CB8AC3E}">
        <p14:creationId xmlns:p14="http://schemas.microsoft.com/office/powerpoint/2010/main" val="3605635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F70434-521C-4AA1-8A66-239EAFAAAF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C005461-F339-8737-89FA-CA5C7C7865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4AA83-7231-D960-08ED-E2762FC454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B36316-ABF8-4B46-A418-C8A7F7906FC0}" type="datetimeFigureOut">
              <a:rPr lang="en-US" smtClean="0"/>
              <a:t>6/1/2026</a:t>
            </a:fld>
            <a:endParaRPr lang="en-US"/>
          </a:p>
        </p:txBody>
      </p:sp>
      <p:sp>
        <p:nvSpPr>
          <p:cNvPr id="5" name="Footer Placeholder 4">
            <a:extLst>
              <a:ext uri="{FF2B5EF4-FFF2-40B4-BE49-F238E27FC236}">
                <a16:creationId xmlns:a16="http://schemas.microsoft.com/office/drawing/2014/main" id="{4132349D-F8B5-8E5F-C60C-48F0866C6C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BE8DF6-2861-A2CF-3F20-89BB877AB0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8D7FAC-DB79-5843-8C7A-9381081E8365}" type="slidenum">
              <a:rPr lang="en-US" smtClean="0"/>
              <a:t>‹#›</a:t>
            </a:fld>
            <a:endParaRPr lang="en-US"/>
          </a:p>
        </p:txBody>
      </p:sp>
    </p:spTree>
    <p:extLst>
      <p:ext uri="{BB962C8B-B14F-4D97-AF65-F5344CB8AC3E}">
        <p14:creationId xmlns:p14="http://schemas.microsoft.com/office/powerpoint/2010/main" val="198634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wikipedia.org/wiki/The_Bronx"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https://creativecommons.org/licenses/by-sa/3.0/"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hyperlink" Target="https://philanthropy.blogspot.com/2015/07/questionthedata.html"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hyperlink" Target="https://creativecommons.org/licenses/by-nc-nd/3.0/" TargetMode="Externa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openclipart.org/detail/170352/ExtendedCommunityCircle" TargetMode="External"/><Relationship Id="rId2" Type="http://schemas.openxmlformats.org/officeDocument/2006/relationships/image" Target="../media/image1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82F214-3AAA-DF84-DBDF-B38BDFF231CC}"/>
              </a:ext>
            </a:extLst>
          </p:cNvPr>
          <p:cNvSpPr>
            <a:spLocks noGrp="1"/>
          </p:cNvSpPr>
          <p:nvPr>
            <p:ph type="ctrTitle"/>
          </p:nvPr>
        </p:nvSpPr>
        <p:spPr>
          <a:xfrm>
            <a:off x="638882" y="3577456"/>
            <a:ext cx="10909640" cy="1687814"/>
          </a:xfrm>
        </p:spPr>
        <p:txBody>
          <a:bodyPr anchor="b">
            <a:normAutofit/>
          </a:bodyPr>
          <a:lstStyle/>
          <a:p>
            <a:r>
              <a:rPr lang="en-US" sz="6600" dirty="0"/>
              <a:t>NYC Shooting Data Analysis</a:t>
            </a:r>
          </a:p>
        </p:txBody>
      </p:sp>
      <p:sp>
        <p:nvSpPr>
          <p:cNvPr id="3" name="Subtitle 2">
            <a:extLst>
              <a:ext uri="{FF2B5EF4-FFF2-40B4-BE49-F238E27FC236}">
                <a16:creationId xmlns:a16="http://schemas.microsoft.com/office/drawing/2014/main" id="{4B612C2B-3FD5-DC83-D38F-4275C8E9EED0}"/>
              </a:ext>
            </a:extLst>
          </p:cNvPr>
          <p:cNvSpPr>
            <a:spLocks noGrp="1"/>
          </p:cNvSpPr>
          <p:nvPr>
            <p:ph type="subTitle" idx="1"/>
          </p:nvPr>
        </p:nvSpPr>
        <p:spPr>
          <a:xfrm>
            <a:off x="638881" y="5660607"/>
            <a:ext cx="10909643" cy="552659"/>
          </a:xfrm>
        </p:spPr>
        <p:txBody>
          <a:bodyPr anchor="t">
            <a:normAutofit/>
          </a:bodyPr>
          <a:lstStyle/>
          <a:p>
            <a:r>
              <a:rPr lang="en-US" dirty="0"/>
              <a:t>Trends, Demographics, and Geographic Patterns in New York City</a:t>
            </a:r>
          </a:p>
          <a:p>
            <a:endParaRPr lang="en-US" dirty="0"/>
          </a:p>
          <a:p>
            <a:endParaRPr lang="en-US" dirty="0"/>
          </a:p>
        </p:txBody>
      </p:sp>
      <p:pic>
        <p:nvPicPr>
          <p:cNvPr id="8" name="Picture 7" descr="A city skyline with trees and water&#10;&#10;Description automatically generated with medium confidence">
            <a:extLst>
              <a:ext uri="{FF2B5EF4-FFF2-40B4-BE49-F238E27FC236}">
                <a16:creationId xmlns:a16="http://schemas.microsoft.com/office/drawing/2014/main" id="{F956B79E-6DAB-D843-C185-DE908F31D093}"/>
              </a:ext>
            </a:extLst>
          </p:cNvPr>
          <p:cNvPicPr>
            <a:picLocks noChangeAspect="1"/>
          </p:cNvPicPr>
          <p:nvPr/>
        </p:nvPicPr>
        <p:blipFill>
          <a:blip r:embed="rId2">
            <a:extLst>
              <a:ext uri="{837473B0-CC2E-450A-ABE3-18F120FF3D39}">
                <a1611:picAttrSrcUrl xmlns:a1611="http://schemas.microsoft.com/office/drawing/2016/11/main" r:id="rId3"/>
              </a:ext>
            </a:extLst>
          </a:blip>
          <a:srcRect l="2201" r="16935" b="-1"/>
          <a:stretch>
            <a:fillRect/>
          </a:stretch>
        </p:blipFill>
        <p:spPr>
          <a:xfrm rot="21600000">
            <a:off x="2686050" y="591669"/>
            <a:ext cx="7299651" cy="3394543"/>
          </a:xfrm>
          <a:prstGeom prst="rect">
            <a:avLst/>
          </a:prstGeom>
        </p:spPr>
      </p:pic>
      <p:sp>
        <p:nvSpPr>
          <p:cNvPr id="53"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F42383B-F246-BD29-A3FD-191C43969CA0}"/>
              </a:ext>
            </a:extLst>
          </p:cNvPr>
          <p:cNvSpPr txBox="1"/>
          <p:nvPr/>
        </p:nvSpPr>
        <p:spPr>
          <a:xfrm>
            <a:off x="9884958" y="6657945"/>
            <a:ext cx="2307042"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en.wikipedia.org/wiki/The_Bronx">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endParaRPr>
          </a:p>
        </p:txBody>
      </p:sp>
      <p:sp>
        <p:nvSpPr>
          <p:cNvPr id="10" name="Footer Placeholder 9">
            <a:extLst>
              <a:ext uri="{FF2B5EF4-FFF2-40B4-BE49-F238E27FC236}">
                <a16:creationId xmlns:a16="http://schemas.microsoft.com/office/drawing/2014/main" id="{F776DCCC-E197-4A59-FF5C-EED33869EC6E}"/>
              </a:ext>
            </a:extLst>
          </p:cNvPr>
          <p:cNvSpPr>
            <a:spLocks noGrp="1"/>
          </p:cNvSpPr>
          <p:nvPr>
            <p:ph type="ftr" sz="quarter" idx="11"/>
          </p:nvPr>
        </p:nvSpPr>
        <p:spPr/>
        <p:txBody>
          <a:bodyPr/>
          <a:lstStyle/>
          <a:p>
            <a:r>
              <a:rPr lang="en-US"/>
              <a:t>Tasha Daniels Capstone Project </a:t>
            </a:r>
          </a:p>
        </p:txBody>
      </p:sp>
    </p:spTree>
    <p:extLst>
      <p:ext uri="{BB962C8B-B14F-4D97-AF65-F5344CB8AC3E}">
        <p14:creationId xmlns:p14="http://schemas.microsoft.com/office/powerpoint/2010/main" val="3560562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89C6B-F526-1E84-5EB4-4BB8F3EBB4A0}"/>
              </a:ext>
            </a:extLst>
          </p:cNvPr>
          <p:cNvSpPr>
            <a:spLocks noGrp="1"/>
          </p:cNvSpPr>
          <p:nvPr>
            <p:ph type="title"/>
          </p:nvPr>
        </p:nvSpPr>
        <p:spPr/>
        <p:txBody>
          <a:bodyPr/>
          <a:lstStyle/>
          <a:p>
            <a:r>
              <a:rPr lang="en-US"/>
              <a:t>Purpose of Analysis</a:t>
            </a:r>
            <a:endParaRPr lang="en-US" dirty="0"/>
          </a:p>
        </p:txBody>
      </p:sp>
      <p:graphicFrame>
        <p:nvGraphicFramePr>
          <p:cNvPr id="5" name="Content Placeholder 2">
            <a:extLst>
              <a:ext uri="{FF2B5EF4-FFF2-40B4-BE49-F238E27FC236}">
                <a16:creationId xmlns:a16="http://schemas.microsoft.com/office/drawing/2014/main" id="{50AA1564-C2DE-54FC-D525-DD74CD02013A}"/>
              </a:ext>
            </a:extLst>
          </p:cNvPr>
          <p:cNvGraphicFramePr>
            <a:graphicFrameLocks noGrp="1"/>
          </p:cNvGraphicFramePr>
          <p:nvPr>
            <p:ph idx="1"/>
            <p:extLst>
              <p:ext uri="{D42A27DB-BD31-4B8C-83A1-F6EECF244321}">
                <p14:modId xmlns:p14="http://schemas.microsoft.com/office/powerpoint/2010/main" val="294698826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5745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27C3FC-5589-1312-88BA-F9BA4D12FF77}"/>
              </a:ext>
            </a:extLst>
          </p:cNvPr>
          <p:cNvSpPr>
            <a:spLocks noGrp="1"/>
          </p:cNvSpPr>
          <p:nvPr>
            <p:ph type="title"/>
          </p:nvPr>
        </p:nvSpPr>
        <p:spPr>
          <a:xfrm>
            <a:off x="630936" y="639520"/>
            <a:ext cx="3429000" cy="1719072"/>
          </a:xfrm>
        </p:spPr>
        <p:txBody>
          <a:bodyPr anchor="b">
            <a:normAutofit/>
          </a:bodyPr>
          <a:lstStyle/>
          <a:p>
            <a:r>
              <a:rPr lang="en-US" sz="5400"/>
              <a:t>Data Source</a:t>
            </a:r>
          </a:p>
        </p:txBody>
      </p:sp>
      <p:sp>
        <p:nvSpPr>
          <p:cNvPr id="1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B4C0415-5833-0362-F026-FB18BB20AF35}"/>
              </a:ext>
            </a:extLst>
          </p:cNvPr>
          <p:cNvSpPr>
            <a:spLocks noGrp="1"/>
          </p:cNvSpPr>
          <p:nvPr>
            <p:ph idx="1"/>
          </p:nvPr>
        </p:nvSpPr>
        <p:spPr>
          <a:xfrm>
            <a:off x="630936" y="2807208"/>
            <a:ext cx="3429000" cy="3410712"/>
          </a:xfrm>
        </p:spPr>
        <p:txBody>
          <a:bodyPr anchor="t">
            <a:normAutofit/>
          </a:bodyPr>
          <a:lstStyle/>
          <a:p>
            <a:pPr marL="0" indent="0">
              <a:buNone/>
            </a:pPr>
            <a:r>
              <a:rPr lang="en-US" sz="2200" dirty="0"/>
              <a:t>The data came from the NYC Open Data website. The dataset included information about shooting incidents in New York City, such as dates, boroughs, precincts, age groups, sex, and locations.</a:t>
            </a:r>
          </a:p>
        </p:txBody>
      </p:sp>
      <p:pic>
        <p:nvPicPr>
          <p:cNvPr id="10" name="Picture 9" descr="A magnifying glass with a label&#10;&#10;Description automatically generated">
            <a:extLst>
              <a:ext uri="{FF2B5EF4-FFF2-40B4-BE49-F238E27FC236}">
                <a16:creationId xmlns:a16="http://schemas.microsoft.com/office/drawing/2014/main" id="{AAB5A593-52F4-5B75-5795-7C133B4F40B4}"/>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654296" y="1133513"/>
            <a:ext cx="6903720" cy="4590973"/>
          </a:xfrm>
          <a:prstGeom prst="rect">
            <a:avLst/>
          </a:prstGeom>
        </p:spPr>
      </p:pic>
      <p:sp>
        <p:nvSpPr>
          <p:cNvPr id="11" name="TextBox 10">
            <a:extLst>
              <a:ext uri="{FF2B5EF4-FFF2-40B4-BE49-F238E27FC236}">
                <a16:creationId xmlns:a16="http://schemas.microsoft.com/office/drawing/2014/main" id="{89EF82B0-A211-BC7B-746D-4C6B144359F2}"/>
              </a:ext>
            </a:extLst>
          </p:cNvPr>
          <p:cNvSpPr txBox="1"/>
          <p:nvPr/>
        </p:nvSpPr>
        <p:spPr>
          <a:xfrm>
            <a:off x="9098689" y="5524431"/>
            <a:ext cx="2459327"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philanthropy.blogspot.com/2015/07/questionthedata.html">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nc-nd/3.0/">
                  <a:extLst>
                    <a:ext uri="{A12FA001-AC4F-418D-AE19-62706E023703}">
                      <ahyp:hlinkClr xmlns:ahyp="http://schemas.microsoft.com/office/drawing/2018/hyperlinkcolor" val="tx"/>
                    </a:ext>
                  </a:extLst>
                </a:hlinkClick>
              </a:rPr>
              <a:t>CC BY-NC-ND</a:t>
            </a:r>
            <a:endParaRPr lang="en-US" sz="700">
              <a:solidFill>
                <a:srgbClr val="FFFFFF"/>
              </a:solidFill>
            </a:endParaRPr>
          </a:p>
        </p:txBody>
      </p:sp>
    </p:spTree>
    <p:extLst>
      <p:ext uri="{BB962C8B-B14F-4D97-AF65-F5344CB8AC3E}">
        <p14:creationId xmlns:p14="http://schemas.microsoft.com/office/powerpoint/2010/main" val="1313587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C169B-80A8-8516-2390-8B2170C96AEE}"/>
              </a:ext>
            </a:extLst>
          </p:cNvPr>
          <p:cNvSpPr>
            <a:spLocks noGrp="1"/>
          </p:cNvSpPr>
          <p:nvPr>
            <p:ph type="title"/>
          </p:nvPr>
        </p:nvSpPr>
        <p:spPr/>
        <p:txBody>
          <a:bodyPr/>
          <a:lstStyle/>
          <a:p>
            <a:r>
              <a:rPr lang="en-US"/>
              <a:t>Research Questions</a:t>
            </a:r>
            <a:endParaRPr lang="en-US" dirty="0"/>
          </a:p>
        </p:txBody>
      </p:sp>
      <p:graphicFrame>
        <p:nvGraphicFramePr>
          <p:cNvPr id="5" name="Content Placeholder 2">
            <a:extLst>
              <a:ext uri="{FF2B5EF4-FFF2-40B4-BE49-F238E27FC236}">
                <a16:creationId xmlns:a16="http://schemas.microsoft.com/office/drawing/2014/main" id="{F7D330EF-B36C-0F4B-9E33-DFEE4A1B5E7E}"/>
              </a:ext>
            </a:extLst>
          </p:cNvPr>
          <p:cNvGraphicFramePr>
            <a:graphicFrameLocks noGrp="1"/>
          </p:cNvGraphicFramePr>
          <p:nvPr>
            <p:ph idx="1"/>
            <p:extLst>
              <p:ext uri="{D42A27DB-BD31-4B8C-83A1-F6EECF244321}">
                <p14:modId xmlns:p14="http://schemas.microsoft.com/office/powerpoint/2010/main" val="309509649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9198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320D5-7DFC-B759-25C4-774E8FE2E291}"/>
              </a:ext>
            </a:extLst>
          </p:cNvPr>
          <p:cNvSpPr>
            <a:spLocks noGrp="1"/>
          </p:cNvSpPr>
          <p:nvPr>
            <p:ph type="title"/>
          </p:nvPr>
        </p:nvSpPr>
        <p:spPr/>
        <p:txBody>
          <a:bodyPr/>
          <a:lstStyle/>
          <a:p>
            <a:r>
              <a:rPr lang="en-US" dirty="0"/>
              <a:t>Data Cleaning and Transformation</a:t>
            </a:r>
          </a:p>
        </p:txBody>
      </p:sp>
      <p:graphicFrame>
        <p:nvGraphicFramePr>
          <p:cNvPr id="7" name="Content Placeholder 2">
            <a:extLst>
              <a:ext uri="{FF2B5EF4-FFF2-40B4-BE49-F238E27FC236}">
                <a16:creationId xmlns:a16="http://schemas.microsoft.com/office/drawing/2014/main" id="{44D5E18E-38D2-0912-0495-BD8905F3ED0D}"/>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1648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AF0856CD-3A8B-0BD6-B356-BF440C2929DC}"/>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kern="1200">
                <a:solidFill>
                  <a:schemeClr val="tx1"/>
                </a:solidFill>
                <a:latin typeface="+mj-lt"/>
                <a:ea typeface="+mj-ea"/>
                <a:cs typeface="+mj-cs"/>
              </a:rPr>
              <a:t>Statistical Analysis</a:t>
            </a:r>
          </a:p>
        </p:txBody>
      </p:sp>
      <p:sp>
        <p:nvSpPr>
          <p:cNvPr id="49"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340782E0-AD05-C9B8-1ED7-51E62470B564}"/>
              </a:ext>
            </a:extLst>
          </p:cNvPr>
          <p:cNvSpPr>
            <a:spLocks noGrp="1"/>
          </p:cNvSpPr>
          <p:nvPr>
            <p:ph type="body" sz="half" idx="2"/>
          </p:nvPr>
        </p:nvSpPr>
        <p:spPr>
          <a:xfrm>
            <a:off x="630936" y="2807208"/>
            <a:ext cx="3429000" cy="3410712"/>
          </a:xfrm>
        </p:spPr>
        <p:txBody>
          <a:bodyPr vert="horz" lIns="91440" tIns="45720" rIns="91440" bIns="45720" rtlCol="0" anchor="t">
            <a:normAutofit/>
          </a:bodyPr>
          <a:lstStyle/>
          <a:p>
            <a:pPr indent="-228600">
              <a:buFont typeface="Arial" panose="020B0604020202020204" pitchFamily="34" charset="0"/>
              <a:buChar char="•"/>
            </a:pPr>
            <a:r>
              <a:rPr lang="en-US" sz="2200" dirty="0"/>
              <a:t>This chart shows a breakdown of reported shootings by borough. The data indicates Brooklyn and the Bronx reported the highest number of shootings, while Queens , Manhattan , and Staten Island reported lower numbers.</a:t>
            </a:r>
          </a:p>
        </p:txBody>
      </p:sp>
      <p:pic>
        <p:nvPicPr>
          <p:cNvPr id="10" name="Content Placeholder 9" descr="A graph of blue bars&#10;&#10;Description automatically generated">
            <a:extLst>
              <a:ext uri="{FF2B5EF4-FFF2-40B4-BE49-F238E27FC236}">
                <a16:creationId xmlns:a16="http://schemas.microsoft.com/office/drawing/2014/main" id="{BCFBF905-FB66-8824-E540-9CD6A9C5A0C0}"/>
              </a:ext>
            </a:extLst>
          </p:cNvPr>
          <p:cNvPicPr>
            <a:picLocks noGrp="1" noChangeAspect="1"/>
          </p:cNvPicPr>
          <p:nvPr>
            <p:ph idx="1"/>
          </p:nvPr>
        </p:nvPicPr>
        <p:blipFill>
          <a:blip r:embed="rId2"/>
          <a:srcRect r="3204" b="2"/>
          <a:stretch>
            <a:fillRect/>
          </a:stretch>
        </p:blipFill>
        <p:spPr>
          <a:xfrm>
            <a:off x="4654296" y="1307203"/>
            <a:ext cx="6903720" cy="4243594"/>
          </a:xfrm>
          <a:prstGeom prst="rect">
            <a:avLst/>
          </a:prstGeom>
        </p:spPr>
      </p:pic>
    </p:spTree>
    <p:extLst>
      <p:ext uri="{BB962C8B-B14F-4D97-AF65-F5344CB8AC3E}">
        <p14:creationId xmlns:p14="http://schemas.microsoft.com/office/powerpoint/2010/main" val="2772371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A7EB9BB6-D514-2F51-B4D1-A367C9FC48F3}"/>
              </a:ext>
            </a:extLst>
          </p:cNvPr>
          <p:cNvSpPr>
            <a:spLocks noGrp="1"/>
          </p:cNvSpPr>
          <p:nvPr>
            <p:ph type="body" sz="half" idx="4294967295"/>
          </p:nvPr>
        </p:nvSpPr>
        <p:spPr>
          <a:xfrm>
            <a:off x="630936" y="2660904"/>
            <a:ext cx="4818888" cy="3547872"/>
          </a:xfrm>
        </p:spPr>
        <p:txBody>
          <a:bodyPr anchor="t">
            <a:normAutofit/>
          </a:bodyPr>
          <a:lstStyle/>
          <a:p>
            <a:r>
              <a:rPr lang="en-US" dirty="0"/>
              <a:t>The victim age analysis shows who is most impacted by gun violence. The data indicates the age groups that are most affected by shootings are younger adults (25-44). </a:t>
            </a:r>
          </a:p>
          <a:p>
            <a:pPr marL="0" indent="0">
              <a:buNone/>
            </a:pPr>
            <a:endParaRPr lang="en-US" sz="2200" dirty="0"/>
          </a:p>
        </p:txBody>
      </p:sp>
      <p:pic>
        <p:nvPicPr>
          <p:cNvPr id="6" name="Content Placeholder 5" descr="A graph of age groups&#10;&#10;Description automatically generated">
            <a:extLst>
              <a:ext uri="{FF2B5EF4-FFF2-40B4-BE49-F238E27FC236}">
                <a16:creationId xmlns:a16="http://schemas.microsoft.com/office/drawing/2014/main" id="{45BF3AF8-ACA7-6914-6B16-0D5C28DB5DEB}"/>
              </a:ext>
            </a:extLst>
          </p:cNvPr>
          <p:cNvPicPr>
            <a:picLocks noGrp="1" noChangeAspect="1"/>
          </p:cNvPicPr>
          <p:nvPr>
            <p:ph idx="1"/>
          </p:nvPr>
        </p:nvPicPr>
        <p:blipFill>
          <a:blip r:embed="rId2"/>
          <a:stretch>
            <a:fillRect/>
          </a:stretch>
        </p:blipFill>
        <p:spPr>
          <a:xfrm>
            <a:off x="5449825" y="1695778"/>
            <a:ext cx="6301908" cy="4001710"/>
          </a:xfrm>
          <a:prstGeom prst="rect">
            <a:avLst/>
          </a:prstGeom>
        </p:spPr>
      </p:pic>
    </p:spTree>
    <p:extLst>
      <p:ext uri="{BB962C8B-B14F-4D97-AF65-F5344CB8AC3E}">
        <p14:creationId xmlns:p14="http://schemas.microsoft.com/office/powerpoint/2010/main" val="339617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B6430D-59CD-3601-8EDD-DB09E4E78E06}"/>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3100" kern="1200" dirty="0">
                <a:solidFill>
                  <a:schemeClr val="tx1"/>
                </a:solidFill>
                <a:latin typeface="+mn-lt"/>
                <a:ea typeface="+mj-ea"/>
                <a:cs typeface="+mj-cs"/>
              </a:rPr>
              <a:t>The victim sex distribution shows that males are affected by shootings at a much higher rate than females and intersex individuals.</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with blue dots and numbers&#10;&#10;Description automatically generated">
            <a:extLst>
              <a:ext uri="{FF2B5EF4-FFF2-40B4-BE49-F238E27FC236}">
                <a16:creationId xmlns:a16="http://schemas.microsoft.com/office/drawing/2014/main" id="{F188C912-9629-D9A6-9471-5CF671DD86BD}"/>
              </a:ext>
            </a:extLst>
          </p:cNvPr>
          <p:cNvPicPr>
            <a:picLocks noGrp="1" noChangeAspect="1"/>
          </p:cNvPicPr>
          <p:nvPr>
            <p:ph idx="1"/>
          </p:nvPr>
        </p:nvPicPr>
        <p:blipFill>
          <a:blip r:embed="rId2"/>
          <a:stretch>
            <a:fillRect/>
          </a:stretch>
        </p:blipFill>
        <p:spPr>
          <a:xfrm>
            <a:off x="4654296" y="1241881"/>
            <a:ext cx="7214616" cy="4346806"/>
          </a:xfrm>
          <a:prstGeom prst="rect">
            <a:avLst/>
          </a:prstGeom>
        </p:spPr>
      </p:pic>
    </p:spTree>
    <p:extLst>
      <p:ext uri="{BB962C8B-B14F-4D97-AF65-F5344CB8AC3E}">
        <p14:creationId xmlns:p14="http://schemas.microsoft.com/office/powerpoint/2010/main" val="46506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91CB4EF0-7DED-7C7A-8744-E23917ECDA99}"/>
              </a:ext>
            </a:extLst>
          </p:cNvPr>
          <p:cNvSpPr>
            <a:spLocks noGrp="1"/>
          </p:cNvSpPr>
          <p:nvPr>
            <p:ph type="title"/>
          </p:nvPr>
        </p:nvSpPr>
        <p:spPr>
          <a:xfrm>
            <a:off x="630936" y="639520"/>
            <a:ext cx="3429000" cy="1719072"/>
          </a:xfrm>
        </p:spPr>
        <p:txBody>
          <a:bodyPr vert="horz" lIns="91440" tIns="45720" rIns="91440" bIns="45720" rtlCol="0" anchor="b">
            <a:normAutofit/>
          </a:bodyPr>
          <a:lstStyle/>
          <a:p>
            <a:br>
              <a:rPr lang="en-US" sz="2600" kern="1200" dirty="0">
                <a:solidFill>
                  <a:schemeClr val="tx1"/>
                </a:solidFill>
                <a:latin typeface="+mj-lt"/>
                <a:ea typeface="+mj-ea"/>
                <a:cs typeface="+mj-cs"/>
              </a:rPr>
            </a:br>
            <a:br>
              <a:rPr lang="en-US" sz="2600" kern="1200" dirty="0">
                <a:solidFill>
                  <a:schemeClr val="tx1"/>
                </a:solidFill>
                <a:latin typeface="+mj-lt"/>
                <a:ea typeface="+mj-ea"/>
                <a:cs typeface="+mj-cs"/>
              </a:rPr>
            </a:br>
            <a:br>
              <a:rPr lang="en-US" sz="2600" kern="1200" dirty="0">
                <a:solidFill>
                  <a:schemeClr val="tx1"/>
                </a:solidFill>
                <a:latin typeface="+mj-lt"/>
                <a:ea typeface="+mj-ea"/>
                <a:cs typeface="+mj-cs"/>
              </a:rPr>
            </a:br>
            <a:endParaRPr lang="en-US" sz="2600" kern="1200" dirty="0">
              <a:solidFill>
                <a:schemeClr val="tx1"/>
              </a:solidFill>
              <a:latin typeface="+mj-lt"/>
              <a:ea typeface="+mj-ea"/>
              <a:cs typeface="+mj-cs"/>
            </a:endParaRPr>
          </a:p>
        </p:txBody>
      </p:sp>
      <p:sp>
        <p:nvSpPr>
          <p:cNvPr id="3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4477E0AD-EE61-D016-6B08-316C04C7BC05}"/>
              </a:ext>
            </a:extLst>
          </p:cNvPr>
          <p:cNvSpPr>
            <a:spLocks noGrp="1"/>
          </p:cNvSpPr>
          <p:nvPr>
            <p:ph type="body" sz="half" idx="2"/>
          </p:nvPr>
        </p:nvSpPr>
        <p:spPr>
          <a:xfrm>
            <a:off x="630936" y="2807208"/>
            <a:ext cx="3429000" cy="3410712"/>
          </a:xfrm>
        </p:spPr>
        <p:txBody>
          <a:bodyPr vert="horz" lIns="91440" tIns="45720" rIns="91440" bIns="45720" rtlCol="0" anchor="t">
            <a:normAutofit fontScale="92500" lnSpcReduction="10000"/>
          </a:bodyPr>
          <a:lstStyle/>
          <a:p>
            <a:pPr marL="285750" indent="-228600">
              <a:buFont typeface="Arial" panose="020B0604020202020204" pitchFamily="34" charset="0"/>
              <a:buChar char="•"/>
            </a:pPr>
            <a:r>
              <a:rPr lang="en-US" sz="1800" dirty="0"/>
              <a:t>This chart shows the shooting victims by race. Black victims made up the largest number, followed by the Hispanics. </a:t>
            </a:r>
          </a:p>
          <a:p>
            <a:pPr marL="285750" indent="-228600">
              <a:buFont typeface="Arial" panose="020B0604020202020204" pitchFamily="34" charset="0"/>
              <a:buChar char="•"/>
            </a:pPr>
            <a:r>
              <a:rPr lang="en-US" sz="1800" dirty="0"/>
              <a:t>Based on the data from this slide and the 2-3 previous slides, they  suggest that there is a need for more community violence intervention programs and support opportunities  in Brooklyn and the Bronx. These programs may also want to focus on Black and Hispanic males between the age of 18 and 44.</a:t>
            </a:r>
          </a:p>
          <a:p>
            <a:pPr marL="285750" indent="-228600">
              <a:buFont typeface="Arial" panose="020B0604020202020204" pitchFamily="34" charset="0"/>
              <a:buChar char="•"/>
            </a:pPr>
            <a:endParaRPr lang="en-US" sz="1500" dirty="0"/>
          </a:p>
        </p:txBody>
      </p:sp>
      <p:pic>
        <p:nvPicPr>
          <p:cNvPr id="5" name="Content Placeholder 4">
            <a:extLst>
              <a:ext uri="{FF2B5EF4-FFF2-40B4-BE49-F238E27FC236}">
                <a16:creationId xmlns:a16="http://schemas.microsoft.com/office/drawing/2014/main" id="{2492FE9E-1B90-B184-FCB7-3BB5058422E8}"/>
              </a:ext>
            </a:extLst>
          </p:cNvPr>
          <p:cNvPicPr>
            <a:picLocks noGrp="1" noChangeAspect="1"/>
          </p:cNvPicPr>
          <p:nvPr>
            <p:ph idx="1"/>
          </p:nvPr>
        </p:nvPicPr>
        <p:blipFill>
          <a:blip r:embed="rId2"/>
          <a:stretch>
            <a:fillRect/>
          </a:stretch>
        </p:blipFill>
        <p:spPr>
          <a:xfrm>
            <a:off x="4654296" y="1452811"/>
            <a:ext cx="6903720" cy="3952378"/>
          </a:xfrm>
          <a:prstGeom prst="rect">
            <a:avLst/>
          </a:prstGeom>
        </p:spPr>
      </p:pic>
    </p:spTree>
    <p:extLst>
      <p:ext uri="{BB962C8B-B14F-4D97-AF65-F5344CB8AC3E}">
        <p14:creationId xmlns:p14="http://schemas.microsoft.com/office/powerpoint/2010/main" val="1566453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AAA51F-A0B2-DA0A-F968-368D1A5B2089}"/>
              </a:ext>
            </a:extLst>
          </p:cNvPr>
          <p:cNvSpPr>
            <a:spLocks noGrp="1"/>
          </p:cNvSpPr>
          <p:nvPr>
            <p:ph type="title"/>
          </p:nvPr>
        </p:nvSpPr>
        <p:spPr/>
        <p:txBody>
          <a:bodyPr>
            <a:normAutofit fontScale="90000"/>
          </a:bodyPr>
          <a:lstStyle/>
          <a:p>
            <a:br>
              <a:rPr lang="en-US" sz="2700" dirty="0"/>
            </a:br>
            <a:br>
              <a:rPr lang="en-US" sz="2700" dirty="0"/>
            </a:br>
            <a:br>
              <a:rPr lang="en-US" sz="2700" dirty="0"/>
            </a:br>
            <a:br>
              <a:rPr lang="en-US" sz="2700" dirty="0"/>
            </a:br>
            <a:br>
              <a:rPr lang="en-US" sz="2700" dirty="0"/>
            </a:br>
            <a:br>
              <a:rPr lang="en-US" sz="2700" dirty="0"/>
            </a:br>
            <a:br>
              <a:rPr lang="en-US" sz="2700" dirty="0"/>
            </a:br>
            <a:r>
              <a:rPr lang="en-US" sz="2700" dirty="0">
                <a:latin typeface="+mn-lt"/>
              </a:rPr>
              <a:t>This visualization shows that shootings are more concentrated during evening and nighttime hours, with incidents increasing substantially later in the day. The pattern suggests that maybe additional public safety resources could be considered during those specific hours.</a:t>
            </a:r>
            <a:br>
              <a:rPr lang="en-US" dirty="0"/>
            </a:br>
            <a:br>
              <a:rPr lang="en-US" dirty="0"/>
            </a:br>
            <a:br>
              <a:rPr lang="en-US" dirty="0"/>
            </a:br>
            <a:br>
              <a:rPr lang="en-US" dirty="0"/>
            </a:br>
            <a:endParaRPr lang="en-US" dirty="0"/>
          </a:p>
        </p:txBody>
      </p:sp>
      <p:pic>
        <p:nvPicPr>
          <p:cNvPr id="8" name="Content Placeholder 7" descr="A graph of a number of shots&#10;&#10;Description automatically generated with medium confidence">
            <a:extLst>
              <a:ext uri="{FF2B5EF4-FFF2-40B4-BE49-F238E27FC236}">
                <a16:creationId xmlns:a16="http://schemas.microsoft.com/office/drawing/2014/main" id="{DF60064F-32CE-F6C5-C3A8-DBBF681B8A81}"/>
              </a:ext>
            </a:extLst>
          </p:cNvPr>
          <p:cNvPicPr>
            <a:picLocks noGrp="1" noChangeAspect="1"/>
          </p:cNvPicPr>
          <p:nvPr>
            <p:ph idx="1"/>
          </p:nvPr>
        </p:nvPicPr>
        <p:blipFill>
          <a:blip r:embed="rId2"/>
          <a:stretch>
            <a:fillRect/>
          </a:stretch>
        </p:blipFill>
        <p:spPr>
          <a:xfrm>
            <a:off x="1556129" y="1825625"/>
            <a:ext cx="9079741" cy="4351338"/>
          </a:xfrm>
        </p:spPr>
      </p:pic>
    </p:spTree>
    <p:extLst>
      <p:ext uri="{BB962C8B-B14F-4D97-AF65-F5344CB8AC3E}">
        <p14:creationId xmlns:p14="http://schemas.microsoft.com/office/powerpoint/2010/main" val="3739784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0E9EED3C-DA9D-2D9C-AE7F-8D7118D66ECA}"/>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2100" dirty="0">
                <a:latin typeface="+mn-lt"/>
              </a:rPr>
              <a:t>This graph highlights the precincts with the highest number of shooting incidents. The number of incidents within certain </a:t>
            </a:r>
            <a:r>
              <a:rPr lang="en-US" sz="2100">
                <a:latin typeface="+mn-lt"/>
              </a:rPr>
              <a:t>precincts again, </a:t>
            </a:r>
            <a:r>
              <a:rPr lang="en-US" sz="2100" dirty="0">
                <a:latin typeface="+mn-lt"/>
              </a:rPr>
              <a:t>may suggest areas where additional public safety resources </a:t>
            </a:r>
            <a:r>
              <a:rPr lang="en-US" sz="2100">
                <a:latin typeface="+mn-lt"/>
              </a:rPr>
              <a:t>could be </a:t>
            </a:r>
            <a:r>
              <a:rPr lang="en-US" sz="2100" dirty="0">
                <a:latin typeface="+mn-lt"/>
              </a:rPr>
              <a:t>considered.</a:t>
            </a:r>
          </a:p>
        </p:txBody>
      </p:sp>
      <p:sp>
        <p:nvSpPr>
          <p:cNvPr id="4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Content Placeholder 34" descr="A graph of blue bars&#10;&#10;Description automatically generated">
            <a:extLst>
              <a:ext uri="{FF2B5EF4-FFF2-40B4-BE49-F238E27FC236}">
                <a16:creationId xmlns:a16="http://schemas.microsoft.com/office/drawing/2014/main" id="{732B5699-068B-BA4E-4E66-1CD03409440F}"/>
              </a:ext>
            </a:extLst>
          </p:cNvPr>
          <p:cNvPicPr>
            <a:picLocks noGrp="1" noChangeAspect="1"/>
          </p:cNvPicPr>
          <p:nvPr>
            <p:ph idx="1"/>
          </p:nvPr>
        </p:nvPicPr>
        <p:blipFill>
          <a:blip r:embed="rId2"/>
          <a:stretch>
            <a:fillRect/>
          </a:stretch>
        </p:blipFill>
        <p:spPr>
          <a:xfrm>
            <a:off x="1929523" y="1825625"/>
            <a:ext cx="8332954" cy="4351338"/>
          </a:xfrm>
        </p:spPr>
      </p:pic>
    </p:spTree>
    <p:extLst>
      <p:ext uri="{BB962C8B-B14F-4D97-AF65-F5344CB8AC3E}">
        <p14:creationId xmlns:p14="http://schemas.microsoft.com/office/powerpoint/2010/main" val="1621484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81438E-9EAF-26AC-CC4B-7263EAC615CD}"/>
              </a:ext>
            </a:extLst>
          </p:cNvPr>
          <p:cNvSpPr>
            <a:spLocks noGrp="1"/>
          </p:cNvSpPr>
          <p:nvPr>
            <p:ph type="title"/>
          </p:nvPr>
        </p:nvSpPr>
        <p:spPr>
          <a:xfrm>
            <a:off x="638882" y="639193"/>
            <a:ext cx="3571810" cy="3573516"/>
          </a:xfrm>
        </p:spPr>
        <p:txBody>
          <a:bodyPr vert="horz" lIns="91440" tIns="45720" rIns="91440" bIns="45720" rtlCol="0" anchor="b">
            <a:noAutofit/>
          </a:bodyPr>
          <a:lstStyle/>
          <a:p>
            <a:r>
              <a:rPr lang="en-US" sz="1800" kern="1200" dirty="0">
                <a:solidFill>
                  <a:schemeClr val="tx1"/>
                </a:solidFill>
                <a:latin typeface="+mn-lt"/>
                <a:ea typeface="+mj-ea"/>
                <a:cs typeface="+mj-cs"/>
              </a:rPr>
              <a:t>This chart shows how shootings in New York City changed over time across the five boroughs. Brooklyn and the Bronx consistently had the highest number of shootings, with noticeable spikes in certain years, especially around 2020. Manhattan, Queens, and Staten Island generally stayed lower, with Staten Island having the fewest shootings throughout the entire time-period. Overall, the graph shows while trends rise and fall over time, some boroughs experience significantly more gun violence than others. </a:t>
            </a:r>
          </a:p>
        </p:txBody>
      </p:sp>
      <p:sp>
        <p:nvSpPr>
          <p:cNvPr id="4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graph of a number of people shooting&#10;&#10;Description automatically generated with medium confidence">
            <a:extLst>
              <a:ext uri="{FF2B5EF4-FFF2-40B4-BE49-F238E27FC236}">
                <a16:creationId xmlns:a16="http://schemas.microsoft.com/office/drawing/2014/main" id="{0FB12235-0E6D-C1D5-F2A9-10C2EC58A544}"/>
              </a:ext>
            </a:extLst>
          </p:cNvPr>
          <p:cNvPicPr>
            <a:picLocks noGrp="1" noChangeAspect="1"/>
          </p:cNvPicPr>
          <p:nvPr>
            <p:ph idx="1"/>
          </p:nvPr>
        </p:nvPicPr>
        <p:blipFill>
          <a:blip r:embed="rId2"/>
          <a:srcRect l="23147" r="4227"/>
          <a:stretch>
            <a:fillRect/>
          </a:stretch>
        </p:blipFill>
        <p:spPr>
          <a:xfrm>
            <a:off x="4654296" y="993888"/>
            <a:ext cx="7214616" cy="4842792"/>
          </a:xfrm>
          <a:prstGeom prst="rect">
            <a:avLst/>
          </a:prstGeom>
        </p:spPr>
      </p:pic>
      <p:sp>
        <p:nvSpPr>
          <p:cNvPr id="8" name="TextBox 7">
            <a:extLst>
              <a:ext uri="{FF2B5EF4-FFF2-40B4-BE49-F238E27FC236}">
                <a16:creationId xmlns:a16="http://schemas.microsoft.com/office/drawing/2014/main" id="{398488C9-FD5B-34FF-AD98-A6DCF548C3FC}"/>
              </a:ext>
            </a:extLst>
          </p:cNvPr>
          <p:cNvSpPr txBox="1"/>
          <p:nvPr/>
        </p:nvSpPr>
        <p:spPr>
          <a:xfrm>
            <a:off x="11958918" y="233082"/>
            <a:ext cx="184731" cy="369332"/>
          </a:xfrm>
          <a:prstGeom prst="rect">
            <a:avLst/>
          </a:prstGeom>
          <a:solidFill>
            <a:schemeClr val="accent2"/>
          </a:solidFill>
        </p:spPr>
        <p:txBody>
          <a:bodyPr wrap="none" rtlCol="0">
            <a:spAutoFit/>
          </a:bodyPr>
          <a:lstStyle/>
          <a:p>
            <a:endParaRPr lang="en-US" dirty="0"/>
          </a:p>
        </p:txBody>
      </p:sp>
    </p:spTree>
    <p:extLst>
      <p:ext uri="{BB962C8B-B14F-4D97-AF65-F5344CB8AC3E}">
        <p14:creationId xmlns:p14="http://schemas.microsoft.com/office/powerpoint/2010/main" val="1146781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7D1805BD-6734-0EC2-094C-D140DF9F4443}"/>
              </a:ext>
            </a:extLst>
          </p:cNvPr>
          <p:cNvSpPr>
            <a:spLocks noGrp="1"/>
          </p:cNvSpPr>
          <p:nvPr>
            <p:ph type="title"/>
          </p:nvPr>
        </p:nvSpPr>
        <p:spPr>
          <a:xfrm>
            <a:off x="638881" y="457201"/>
            <a:ext cx="10909640" cy="1832654"/>
          </a:xfrm>
        </p:spPr>
        <p:txBody>
          <a:bodyPr vert="horz" lIns="91440" tIns="45720" rIns="91440" bIns="45720" rtlCol="0" anchor="b">
            <a:normAutofit/>
          </a:bodyPr>
          <a:lstStyle/>
          <a:p>
            <a:pPr algn="ctr"/>
            <a:r>
              <a:rPr lang="en-US" sz="2600" dirty="0">
                <a:latin typeface="+mn-lt"/>
              </a:rPr>
              <a:t>This data suggests a need for stronger community violence intervention programs and support services focused on males aged 18–44 in Brooklyn and the Bronx, with added emphasis on increased patrols and prevention efforts during evening and nighttime hours when incidents are more likely to occur.</a:t>
            </a:r>
            <a:endParaRPr lang="en-US" sz="2600" kern="1200" dirty="0">
              <a:solidFill>
                <a:schemeClr val="tx1"/>
              </a:solidFill>
              <a:latin typeface="+mn-lt"/>
            </a:endParaRPr>
          </a:p>
        </p:txBody>
      </p:sp>
      <p:sp>
        <p:nvSpPr>
          <p:cNvPr id="53"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234391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descr="A group of colorful people holding hands&#10;&#10;Description automatically generated">
            <a:extLst>
              <a:ext uri="{FF2B5EF4-FFF2-40B4-BE49-F238E27FC236}">
                <a16:creationId xmlns:a16="http://schemas.microsoft.com/office/drawing/2014/main" id="{16A38282-94B6-81BA-A61F-CA4C60D5D3FF}"/>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357281" y="3124200"/>
            <a:ext cx="9474390" cy="3102864"/>
          </a:xfrm>
          <a:prstGeom prst="rect">
            <a:avLst/>
          </a:prstGeom>
        </p:spPr>
      </p:pic>
    </p:spTree>
    <p:extLst>
      <p:ext uri="{BB962C8B-B14F-4D97-AF65-F5344CB8AC3E}">
        <p14:creationId xmlns:p14="http://schemas.microsoft.com/office/powerpoint/2010/main" val="2516274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12009</TotalTime>
  <Words>549</Words>
  <Application>Microsoft Office PowerPoint</Application>
  <PresentationFormat>Widescreen</PresentationFormat>
  <Paragraphs>36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NYC Shooting Data Analysis</vt:lpstr>
      <vt:lpstr>Purpose of Analysis</vt:lpstr>
      <vt:lpstr>Data Source</vt:lpstr>
      <vt:lpstr>Research Questions</vt:lpstr>
      <vt:lpstr>Data Cleaning and Transformation</vt:lpstr>
      <vt:lpstr>Statistical Analysis</vt:lpstr>
      <vt:lpstr>PowerPoint Presentation</vt:lpstr>
      <vt:lpstr>The victim sex distribution shows that males are affected by shootings at a much higher rate than females and intersex individuals.</vt:lpstr>
      <vt:lpstr>   </vt:lpstr>
      <vt:lpstr>       This visualization shows that shootings are more concentrated during evening and nighttime hours, with incidents increasing substantially later in the day. The pattern suggests that maybe additional public safety resources could be considered during those specific hours.    </vt:lpstr>
      <vt:lpstr>This graph highlights the precincts with the highest number of shooting incidents. The number of incidents within certain precincts again, may suggest areas where additional public safety resources could be considered.</vt:lpstr>
      <vt:lpstr>This chart shows how shootings in New York City changed over time across the five boroughs. Brooklyn and the Bronx consistently had the highest number of shootings, with noticeable spikes in certain years, especially around 2020. Manhattan, Queens, and Staten Island generally stayed lower, with Staten Island having the fewest shootings throughout the entire time-period. Overall, the graph shows while trends rise and fall over time, some boroughs experience significantly more gun violence than others. </vt:lpstr>
      <vt:lpstr>This data suggests a need for stronger community violence intervention programs and support services focused on males aged 18–44 in Brooklyn and the Bronx, with added emphasis on increased patrols and prevention efforts during evening and nighttime hours when incidents are more likely to occur.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Shooting Data Analysis</dc:title>
  <dc:creator>Tasha Daniels</dc:creator>
  <cp:lastModifiedBy>Daniels, Tasha</cp:lastModifiedBy>
  <cp:revision>7</cp:revision>
  <dcterms:created xsi:type="dcterms:W3CDTF">2026-05-19T20:59:13Z</dcterms:created>
  <dcterms:modified xsi:type="dcterms:W3CDTF">2026-06-01T20:22:24Z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882f12-421b-44e0-be57-0bd76256c3e5_Enabled">
    <vt:lpwstr>true</vt:lpwstr>
  </property>
  <property fmtid="{D5CDD505-2E9C-101B-9397-08002B2CF9AE}" pid="3" name="MSIP_Label_f4882f12-421b-44e0-be57-0bd76256c3e5_SetDate">
    <vt:lpwstr>2026-05-29T18:50:55Z</vt:lpwstr>
  </property>
  <property fmtid="{D5CDD505-2E9C-101B-9397-08002B2CF9AE}" pid="4" name="MSIP_Label_f4882f12-421b-44e0-be57-0bd76256c3e5_Method">
    <vt:lpwstr>Standard</vt:lpwstr>
  </property>
  <property fmtid="{D5CDD505-2E9C-101B-9397-08002B2CF9AE}" pid="5" name="MSIP_Label_f4882f12-421b-44e0-be57-0bd76256c3e5_Name">
    <vt:lpwstr>General Business Data</vt:lpwstr>
  </property>
  <property fmtid="{D5CDD505-2E9C-101B-9397-08002B2CF9AE}" pid="6" name="MSIP_Label_f4882f12-421b-44e0-be57-0bd76256c3e5_SiteId">
    <vt:lpwstr>7697727b-2a23-4f42-a66c-02ef2bb7fd6b</vt:lpwstr>
  </property>
  <property fmtid="{D5CDD505-2E9C-101B-9397-08002B2CF9AE}" pid="7" name="MSIP_Label_f4882f12-421b-44e0-be57-0bd76256c3e5_ActionId">
    <vt:lpwstr>aa4db312-db96-4f53-bd04-aa6842b1c06c</vt:lpwstr>
  </property>
  <property fmtid="{D5CDD505-2E9C-101B-9397-08002B2CF9AE}" pid="8" name="MSIP_Label_f4882f12-421b-44e0-be57-0bd76256c3e5_ContentBits">
    <vt:lpwstr>0</vt:lpwstr>
  </property>
  <property fmtid="{D5CDD505-2E9C-101B-9397-08002B2CF9AE}" pid="9" name="MSIP_Label_f4882f12-421b-44e0-be57-0bd76256c3e5_Tag">
    <vt:lpwstr>10, 3, 0, 2</vt:lpwstr>
  </property>
</Properties>
</file>